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2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25" d="100"/>
          <a:sy n="25" d="100"/>
        </p:scale>
        <p:origin x="19" y="119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A21C1-4EF2-6182-0516-C5507165A7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2420A7-99B6-93E8-2003-CCE062355A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B376D-4595-D351-D6AE-2D80DE0D0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A96C4-76D9-4D10-A02D-18D5CECAB8B6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EF155-74E3-5188-F9CD-AC4E287CD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206F4B-5152-9DD2-9B22-7D8C0E5DD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61676-19EA-4064-9B22-7B0AC921C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421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97646-5585-4ED3-075F-D0F55BA9C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4553B4-C23D-55DE-6947-6E731C7445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FA9131-8DFA-8467-34B8-83302BD1C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A96C4-76D9-4D10-A02D-18D5CECAB8B6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766616-CEF1-D4EF-372E-AC2604985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247F67-981D-E228-4FDC-77721382A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61676-19EA-4064-9B22-7B0AC921C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395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823E6-CDA6-F40F-B767-0F4637FD5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4F2D7E-6E6E-907C-4FF9-AADADA23B1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DD299D-B41F-B822-EB29-7D384B631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A96C4-76D9-4D10-A02D-18D5CECAB8B6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A1CDB2-9C4C-481D-19EB-C14CD8D55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63CEDA-1669-4F75-39C1-3C9239615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61676-19EA-4064-9B22-7B0AC921C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2743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03FB1-5DB2-7364-3D4E-92BD4E2DA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1FB98-9487-B1B9-11AB-27BD646F7C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0F478E-B159-049D-88DE-D38EBDED9D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5BDC59-86FA-95AC-8346-93E389C20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A96C4-76D9-4D10-A02D-18D5CECAB8B6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F7F50B-8875-8433-1D78-3587438A9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F39A49-2695-0C8D-D097-830DEC90E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61676-19EA-4064-9B22-7B0AC921C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834E1-E2D1-14D6-22CB-FC6932AC2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1EB33A-C34E-4F66-CE88-7FE085FBD8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DCC15E-13EB-8C9C-EF89-265E526D56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BF1256-A58B-D48D-72D3-ECE2A29ACD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5082FA-2461-37C1-CC11-717558EBD0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A8E647-B1D4-56A8-51A1-F2024CEBD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A96C4-76D9-4D10-A02D-18D5CECAB8B6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425C1E-2811-A157-DCE2-672914D07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C6FE74-F5EB-16BB-2721-26A69519D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61676-19EA-4064-9B22-7B0AC921C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460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90D90-E7C5-9364-3324-DF78814B0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7F7BE5-6CFA-99E5-1067-71057B5DF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A96C4-76D9-4D10-A02D-18D5CECAB8B6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83F03D-1EF6-A5D5-D100-9BDFEE66A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D1C218-569C-EE30-4D29-9EFFB6A9A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61676-19EA-4064-9B22-7B0AC921C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026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B41335-01AC-34D5-F70E-3FD5843AB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A96C4-76D9-4D10-A02D-18D5CECAB8B6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8BAFF8-A93B-F5E4-3F6F-5EB516B8C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5E9685-F698-FBDC-5186-11BD28CF8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61676-19EA-4064-9B22-7B0AC921C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872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3E855-9FBD-DC93-B6E4-17EDF2851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2FBD58-8BCA-C725-D51B-475F4491D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916E58-5605-1241-7D98-EA046EB9E2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76A50E-453D-C472-8E9E-F1F86D277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A96C4-76D9-4D10-A02D-18D5CECAB8B6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5C82C-C611-5CFE-F26E-6849F2669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E733C3-7980-7AC0-5FE7-139C39925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61676-19EA-4064-9B22-7B0AC921C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833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A0798-314C-1C53-37D0-FFDB2AE97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D8DBA7-C6CD-ABD9-B3CF-562EE7AF64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FB35C1-3F1A-FAC0-37BD-B4F9BF6204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A14534-8A24-39AE-DC53-D1094EA67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A96C4-76D9-4D10-A02D-18D5CECAB8B6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C3C2CB-12FC-300F-29AF-7999D13EC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5EE9C5-561E-3FCD-0432-07C67427B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61676-19EA-4064-9B22-7B0AC921C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102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956C2-DADB-B6B4-EE58-395B11525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9AC6E4-9547-C1B7-0405-49BBCD99F3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307A5B-BC33-7586-A411-B98E0ADCF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A96C4-76D9-4D10-A02D-18D5CECAB8B6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052D70-2EA1-DFEF-B04A-FDA01C9AE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3E593D-BDD3-C66B-410C-054D286B4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61676-19EA-4064-9B22-7B0AC921C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544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DEF63F-360B-0F89-CBFE-FD66B2EB96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C0EA93-DE30-BC7A-A0A1-61577795CA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85DDA1-B384-0C9F-56C7-F7AAA2303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A96C4-76D9-4D10-A02D-18D5CECAB8B6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BC11C3-262D-3CDD-275C-839A9CE35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59B634-D1D5-96C0-8ACB-4EA790C98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61676-19EA-4064-9B22-7B0AC921C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916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A4DC40-2149-0E43-BD63-EEC628D36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5763E6-9833-44FF-F8BB-5156D4800E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31FE59-AC59-D83C-40A7-F8227941C6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EA96C4-76D9-4D10-A02D-18D5CECAB8B6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11E879-898C-C460-B107-FB0D42BA81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B0D30C-BDFC-A338-FDEC-3491FF3526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961676-19EA-4064-9B22-7B0AC921C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890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09C63-7E99-E03A-7CA0-14EE9E958D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Cinderella Problem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398DF8-604E-0E74-2782-107FA9FF0A8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By: Anton, James, Aaron</a:t>
            </a:r>
          </a:p>
        </p:txBody>
      </p:sp>
    </p:spTree>
    <p:extLst>
      <p:ext uri="{BB962C8B-B14F-4D97-AF65-F5344CB8AC3E}">
        <p14:creationId xmlns:p14="http://schemas.microsoft.com/office/powerpoint/2010/main" val="11418081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88B8A-9A0D-C7F1-3E06-5895DC2AA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 and Hypothesis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A3276-EEE9-7EBB-927F-58238A54F5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Motivation:</a:t>
            </a:r>
          </a:p>
          <a:p>
            <a:pPr lvl="1"/>
            <a:r>
              <a:rPr lang="en-US" dirty="0"/>
              <a:t>The Goal: Predict March Madness “Cinderella” Upsets</a:t>
            </a:r>
          </a:p>
          <a:p>
            <a:pPr lvl="1"/>
            <a:r>
              <a:rPr lang="en-US" dirty="0"/>
              <a:t>The Problem: Traditional models typically over-rely on official seeding</a:t>
            </a:r>
          </a:p>
          <a:p>
            <a:pPr lvl="1"/>
            <a:r>
              <a:rPr lang="en-US" dirty="0"/>
              <a:t>The Solution: Focus on a team’s statistical DNA using regular season advanced metrics.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Hypothesis</a:t>
            </a:r>
          </a:p>
          <a:p>
            <a:pPr marL="457200" lvl="1" indent="0">
              <a:buNone/>
            </a:pPr>
            <a:r>
              <a:rPr lang="en-US" dirty="0"/>
              <a:t>- Integrating unsupervised anomaly scores into supervised classification models will significantly improve the predictive accuracy of NCAA tournament upsets.</a:t>
            </a:r>
          </a:p>
        </p:txBody>
      </p:sp>
    </p:spTree>
    <p:extLst>
      <p:ext uri="{BB962C8B-B14F-4D97-AF65-F5344CB8AC3E}">
        <p14:creationId xmlns:p14="http://schemas.microsoft.com/office/powerpoint/2010/main" val="29237595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C4E29-A3D7-967E-0AF1-32EBD5692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40ECF-6E3C-9D92-886B-6846721074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Dataset Origin &amp; Scope</a:t>
            </a:r>
          </a:p>
          <a:p>
            <a:pPr lvl="1"/>
            <a:r>
              <a:rPr lang="en-US" dirty="0"/>
              <a:t>Source: Kaggle 2026 March Madness Competition</a:t>
            </a:r>
          </a:p>
          <a:p>
            <a:pPr lvl="1"/>
            <a:r>
              <a:rPr lang="en-US" dirty="0"/>
              <a:t>Timeline: 1984-1985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r>
              <a:rPr lang="en-US" dirty="0"/>
              <a:t>Target Variable: </a:t>
            </a:r>
            <a:r>
              <a:rPr lang="en-US" dirty="0" err="1"/>
              <a:t>CinderellaFlag</a:t>
            </a:r>
            <a:endParaRPr lang="en-US" dirty="0"/>
          </a:p>
          <a:p>
            <a:pPr lvl="1">
              <a:buFontTx/>
              <a:buChar char="-"/>
            </a:pPr>
            <a:r>
              <a:rPr lang="en-US" dirty="0"/>
              <a:t>Teams with seed &gt;= 10 and tournament wins &gt;= 2.</a:t>
            </a:r>
          </a:p>
          <a:p>
            <a:pPr lvl="1">
              <a:buFontTx/>
              <a:buChar char="-"/>
            </a:pPr>
            <a:endParaRPr lang="en-US" dirty="0"/>
          </a:p>
          <a:p>
            <a:pPr lvl="1">
              <a:buFontTx/>
              <a:buChar char="-"/>
            </a:pPr>
            <a:r>
              <a:rPr lang="en-US" dirty="0"/>
              <a:t>Key Features:</a:t>
            </a:r>
          </a:p>
          <a:p>
            <a:pPr lvl="1">
              <a:buFontTx/>
              <a:buChar char="-"/>
            </a:pPr>
            <a:r>
              <a:rPr lang="en-US" dirty="0"/>
              <a:t>- Ranking Metrics: </a:t>
            </a:r>
            <a:r>
              <a:rPr lang="en-US" dirty="0" err="1"/>
              <a:t>SeedNum</a:t>
            </a:r>
            <a:r>
              <a:rPr lang="en-US" dirty="0"/>
              <a:t>, </a:t>
            </a:r>
            <a:r>
              <a:rPr lang="en-US" dirty="0" err="1"/>
              <a:t>MasseyRankMean</a:t>
            </a:r>
            <a:endParaRPr lang="en-US" dirty="0"/>
          </a:p>
          <a:p>
            <a:pPr lvl="1">
              <a:buFontTx/>
              <a:buChar char="-"/>
            </a:pPr>
            <a:r>
              <a:rPr lang="en-US" dirty="0"/>
              <a:t>Performance: </a:t>
            </a:r>
            <a:r>
              <a:rPr lang="en-US" dirty="0" err="1"/>
              <a:t>WinPct</a:t>
            </a:r>
            <a:endParaRPr lang="en-US" dirty="0"/>
          </a:p>
          <a:p>
            <a:pPr lvl="1">
              <a:buFontTx/>
              <a:buChar char="-"/>
            </a:pPr>
            <a:r>
              <a:rPr lang="en-US" dirty="0"/>
              <a:t>Efficiency: </a:t>
            </a:r>
            <a:r>
              <a:rPr lang="en-US" dirty="0" err="1"/>
              <a:t>AvgScoreDiff</a:t>
            </a:r>
            <a:r>
              <a:rPr lang="en-US" dirty="0"/>
              <a:t>, </a:t>
            </a:r>
            <a:r>
              <a:rPr lang="en-US" dirty="0" err="1"/>
              <a:t>AvgPointsFor</a:t>
            </a:r>
            <a:r>
              <a:rPr lang="en-US" dirty="0"/>
              <a:t>, </a:t>
            </a:r>
            <a:r>
              <a:rPr lang="en-US" dirty="0" err="1"/>
              <a:t>AvgPointsAgainst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42943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1D725-9251-7DF5-1F23-121F2299F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58B44C-9E92-F2E4-97B8-4F7168AD88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Phase 1: Unsupervised Learning</a:t>
            </a:r>
          </a:p>
          <a:p>
            <a:r>
              <a:rPr lang="en-US" dirty="0"/>
              <a:t>Evaluated all division I teams to map out statistical DNA</a:t>
            </a:r>
          </a:p>
          <a:p>
            <a:r>
              <a:rPr lang="en-US" dirty="0"/>
              <a:t>Models Tested: Isolation Forests &amp; Gaussian Mixture Models (GMM)</a:t>
            </a:r>
          </a:p>
          <a:p>
            <a:endParaRPr lang="en-US" dirty="0"/>
          </a:p>
          <a:p>
            <a:r>
              <a:rPr lang="en-US" dirty="0"/>
              <a:t>Phase 2: Supervised Classification</a:t>
            </a:r>
          </a:p>
          <a:p>
            <a:r>
              <a:rPr lang="en-US" dirty="0"/>
              <a:t>Filtered dataset strictly to Cinderella candidates (Seed 10-16, N = 680)</a:t>
            </a:r>
          </a:p>
          <a:p>
            <a:r>
              <a:rPr lang="en-US" dirty="0"/>
              <a:t>Models Tested: Random Forest vs. XGBoost</a:t>
            </a:r>
          </a:p>
        </p:txBody>
      </p:sp>
    </p:spTree>
    <p:extLst>
      <p:ext uri="{BB962C8B-B14F-4D97-AF65-F5344CB8AC3E}">
        <p14:creationId xmlns:p14="http://schemas.microsoft.com/office/powerpoint/2010/main" val="3613872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231AA-D68E-5E3E-38D9-A11CFECCF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Importance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2610FC-C8BD-1B28-5CF1-C94A6C57EF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SeedNum</a:t>
            </a:r>
            <a:r>
              <a:rPr lang="en-US" dirty="0"/>
              <a:t> was highly predictive but the model predictions were also driven by </a:t>
            </a:r>
            <a:r>
              <a:rPr lang="en-US" dirty="0" err="1"/>
              <a:t>Rank_vs_TourneyAvg</a:t>
            </a:r>
            <a:r>
              <a:rPr lang="en-US" dirty="0"/>
              <a:t>, and Massey Ratings.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BF5752-19B2-8271-73D0-3DDF01E9FA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3317" y="3209132"/>
            <a:ext cx="4099167" cy="2967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1674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A9FF4-D956-CC7F-78D8-8F25F0E5F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Supervised 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989EC5-8729-B685-C48C-4E20853FB9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Data</a:t>
            </a:r>
          </a:p>
          <a:p>
            <a:r>
              <a:rPr lang="en-US" dirty="0"/>
              <a:t>Filtering for Cinderella candidates left us with an imbalanced dataset, since Cinderella seeds are unlikely.</a:t>
            </a:r>
          </a:p>
          <a:p>
            <a:endParaRPr lang="en-US" dirty="0"/>
          </a:p>
          <a:p>
            <a:r>
              <a:rPr lang="en-US" dirty="0"/>
              <a:t>Model Selection and Tuning: </a:t>
            </a:r>
          </a:p>
          <a:p>
            <a:r>
              <a:rPr lang="en-US" dirty="0"/>
              <a:t>Evaluation Metric: Rather than Accuracy we used PC-AUC and F1-Score to account for this.</a:t>
            </a:r>
          </a:p>
          <a:p>
            <a:r>
              <a:rPr lang="en-US" dirty="0"/>
              <a:t>Baseline Random Forest struggled with recall (0.306).</a:t>
            </a:r>
          </a:p>
          <a:p>
            <a:r>
              <a:rPr lang="en-US" dirty="0"/>
              <a:t>XGBoost largely improved recall (0.6861)</a:t>
            </a:r>
          </a:p>
        </p:txBody>
      </p:sp>
    </p:spTree>
    <p:extLst>
      <p:ext uri="{BB962C8B-B14F-4D97-AF65-F5344CB8AC3E}">
        <p14:creationId xmlns:p14="http://schemas.microsoft.com/office/powerpoint/2010/main" val="162123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5C119-2DAB-CFB8-E012-BE2734912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Unsupervised Anomaly Detection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73496-2146-1B47-AE02-B844407BC3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Hypothesis: Cinderellas would be identified as distinct outliers among other low seeded teams.</a:t>
            </a:r>
          </a:p>
          <a:p>
            <a:endParaRPr lang="en-US" dirty="0"/>
          </a:p>
          <a:p>
            <a:r>
              <a:rPr lang="en-US" dirty="0"/>
              <a:t>Reality: Isolation Forest showed that Cinderellas were mostly statistically normal to other lower ranked seeds and lacked significant variance.</a:t>
            </a:r>
          </a:p>
          <a:p>
            <a:endParaRPr lang="en-US" dirty="0"/>
          </a:p>
          <a:p>
            <a:r>
              <a:rPr lang="en-US" dirty="0"/>
              <a:t>However, the Gaussian Mixed Model (GMM) was able to group teams into 4 distinct archetypes. It successfully grouped 82% of historical Cinderella teams into a high performing archetype (Cluster 2) where many higher ranked teams are. This suggests that they distinct enough to be identified as different from the average lower seed.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CA9E1D-D4EC-F3E5-1F5E-5B0D5B8ADE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0158" y="4399477"/>
            <a:ext cx="3607319" cy="20933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872E0E6-1585-7902-E2A7-A0E9BD09C8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6235" y="4781048"/>
            <a:ext cx="2558807" cy="1395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6959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C32AE-3699-A024-B553-BA2A5FC17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Results &amp;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B64E96-F4EA-2976-C3B9-4DDF488B51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Ultimately, despite our hypothesis, our XGBoost model still struggled to consistently identify Cinderella teams. </a:t>
            </a:r>
          </a:p>
          <a:p>
            <a:endParaRPr lang="en-US" dirty="0"/>
          </a:p>
          <a:p>
            <a:r>
              <a:rPr lang="en-US" dirty="0"/>
              <a:t>While it performed better than a random guess, it wasn’t drastically better. </a:t>
            </a:r>
          </a:p>
        </p:txBody>
      </p:sp>
    </p:spTree>
    <p:extLst>
      <p:ext uri="{BB962C8B-B14F-4D97-AF65-F5344CB8AC3E}">
        <p14:creationId xmlns:p14="http://schemas.microsoft.com/office/powerpoint/2010/main" val="37458763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214D3-9699-E0E2-8B10-348A820E5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Demonstration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6E0871-4D7A-8150-B00F-8D9A43CE66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Link to </a:t>
            </a:r>
            <a:r>
              <a:rPr lang="en-US" dirty="0" err="1"/>
              <a:t>streamlit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39087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09F6F-DC3E-B1B0-5170-853B3CCC3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and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2495A3-C735-031D-336B-8508BC0024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We proved our hypothesis that unsupervised metrics could improve our supervised upset predictions over a baseline model (guess 50-50 model). </a:t>
            </a:r>
          </a:p>
          <a:p>
            <a:endParaRPr lang="en-US" dirty="0"/>
          </a:p>
          <a:p>
            <a:r>
              <a:rPr lang="en-US" dirty="0"/>
              <a:t>Statistically, Cinderella runs are uncommon and thus difficult to work with due to imbalanced data. </a:t>
            </a:r>
          </a:p>
          <a:p>
            <a:endParaRPr lang="en-US" dirty="0"/>
          </a:p>
          <a:p>
            <a:r>
              <a:rPr lang="en-US" dirty="0"/>
              <a:t>However, by looking at efficiency profiles, ball security, and team consistency, we can find teams that are better teams than their seed might suggest.</a:t>
            </a:r>
          </a:p>
        </p:txBody>
      </p:sp>
    </p:spTree>
    <p:extLst>
      <p:ext uri="{BB962C8B-B14F-4D97-AF65-F5344CB8AC3E}">
        <p14:creationId xmlns:p14="http://schemas.microsoft.com/office/powerpoint/2010/main" val="25265503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469</Words>
  <Application>Microsoft Office PowerPoint</Application>
  <PresentationFormat>Widescreen</PresentationFormat>
  <Paragraphs>58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The Cinderella Problem</vt:lpstr>
      <vt:lpstr>Motivation and Hypothesis</vt:lpstr>
      <vt:lpstr>The Data</vt:lpstr>
      <vt:lpstr>Methodology</vt:lpstr>
      <vt:lpstr>Feature Importance</vt:lpstr>
      <vt:lpstr>Supervised Classification</vt:lpstr>
      <vt:lpstr>Unsupervised Anomaly Detection </vt:lpstr>
      <vt:lpstr>Model Results &amp; Performance</vt:lpstr>
      <vt:lpstr>Demonstration</vt:lpstr>
      <vt:lpstr>Conclusion and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Klein</dc:creator>
  <cp:lastModifiedBy>James Klein</cp:lastModifiedBy>
  <cp:revision>2</cp:revision>
  <dcterms:created xsi:type="dcterms:W3CDTF">2026-04-09T04:04:06Z</dcterms:created>
  <dcterms:modified xsi:type="dcterms:W3CDTF">2026-04-09T04:46:36Z</dcterms:modified>
</cp:coreProperties>
</file>