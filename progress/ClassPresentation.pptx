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6" r:id="rId7"/>
    <p:sldId id="268" r:id="rId8"/>
    <p:sldId id="267" r:id="rId9"/>
    <p:sldId id="263" r:id="rId10"/>
    <p:sldId id="261" r:id="rId11"/>
    <p:sldId id="262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54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985E3B-18EC-4819-A3CE-94663A4AE07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FEE20F-513D-4E45-8F72-82C2E6FB035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Problem (Raw Stats): A +5.0 scoring margin is terrible for a 1-seed, but incredible for a 13-seed. Raw stats lack context. </a:t>
          </a:r>
        </a:p>
      </dgm:t>
    </dgm:pt>
    <dgm:pt modelId="{B7031ADE-18DD-4AD8-A5BD-B27DA39738B3}" type="parTrans" cxnId="{77B27867-8857-449E-84C6-05B1F23F9BEC}">
      <dgm:prSet/>
      <dgm:spPr/>
      <dgm:t>
        <a:bodyPr/>
        <a:lstStyle/>
        <a:p>
          <a:endParaRPr lang="en-US"/>
        </a:p>
      </dgm:t>
    </dgm:pt>
    <dgm:pt modelId="{87B34B02-B9B5-4E74-B61D-E2486C3304B2}" type="sibTrans" cxnId="{77B27867-8857-449E-84C6-05B1F23F9BEC}">
      <dgm:prSet/>
      <dgm:spPr/>
      <dgm:t>
        <a:bodyPr/>
        <a:lstStyle/>
        <a:p>
          <a:endParaRPr lang="en-US"/>
        </a:p>
      </dgm:t>
    </dgm:pt>
    <dgm:pt modelId="{9075FDAA-3588-4131-A5D8-CEE335E456D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Solution </a:t>
          </a:r>
          <a:r>
            <a:rPr lang="en-US" dirty="0"/>
            <a:t>(Tournament Averages): Calculate the mean metrics for only the teams that made the tournament that specific year. </a:t>
          </a:r>
        </a:p>
      </dgm:t>
    </dgm:pt>
    <dgm:pt modelId="{113F6F72-0C03-484D-A1FD-6107579F0265}" type="parTrans" cxnId="{59F2C8F9-7505-409D-B540-AF32B4D2E1CB}">
      <dgm:prSet/>
      <dgm:spPr/>
      <dgm:t>
        <a:bodyPr/>
        <a:lstStyle/>
        <a:p>
          <a:endParaRPr lang="en-US"/>
        </a:p>
      </dgm:t>
    </dgm:pt>
    <dgm:pt modelId="{AE88F968-EF11-4BE6-B074-07EA0E88B477}" type="sibTrans" cxnId="{59F2C8F9-7505-409D-B540-AF32B4D2E1CB}">
      <dgm:prSet/>
      <dgm:spPr/>
      <dgm:t>
        <a:bodyPr/>
        <a:lstStyle/>
        <a:p>
          <a:endParaRPr lang="en-US"/>
        </a:p>
      </dgm:t>
    </dgm:pt>
    <dgm:pt modelId="{3DD4DC91-14A3-404D-8965-F4B749FA41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Formula: Candidate Stat - Tournament Average = Expectation Gap </a:t>
          </a:r>
        </a:p>
      </dgm:t>
    </dgm:pt>
    <dgm:pt modelId="{CE4630D2-6B22-4475-9232-0F70E61A8AA0}" type="parTrans" cxnId="{7EB32AF4-E5D1-4881-A898-C26E2C4E235D}">
      <dgm:prSet/>
      <dgm:spPr/>
      <dgm:t>
        <a:bodyPr/>
        <a:lstStyle/>
        <a:p>
          <a:endParaRPr lang="en-US"/>
        </a:p>
      </dgm:t>
    </dgm:pt>
    <dgm:pt modelId="{D7C5D62E-02B7-4219-8F7C-76AE8EF73D11}" type="sibTrans" cxnId="{7EB32AF4-E5D1-4881-A898-C26E2C4E235D}">
      <dgm:prSet/>
      <dgm:spPr/>
      <dgm:t>
        <a:bodyPr/>
        <a:lstStyle/>
        <a:p>
          <a:endParaRPr lang="en-US"/>
        </a:p>
      </dgm:t>
    </dgm:pt>
    <dgm:pt modelId="{1F94A90F-B8CD-4AFA-9907-A240B6C4DE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Impact: Allows the model to identify 13-seeds that possess the statistical DNA of a top-tier powerhouse.</a:t>
          </a:r>
        </a:p>
      </dgm:t>
    </dgm:pt>
    <dgm:pt modelId="{BB041ED1-A60C-48A8-AE03-B0C8D3371DCB}" type="parTrans" cxnId="{98547060-D7E5-4115-B70B-EFC723F6577A}">
      <dgm:prSet/>
      <dgm:spPr/>
      <dgm:t>
        <a:bodyPr/>
        <a:lstStyle/>
        <a:p>
          <a:endParaRPr lang="en-US"/>
        </a:p>
      </dgm:t>
    </dgm:pt>
    <dgm:pt modelId="{4B623ECE-16A1-47E8-8F9E-A1ED76693221}" type="sibTrans" cxnId="{98547060-D7E5-4115-B70B-EFC723F6577A}">
      <dgm:prSet/>
      <dgm:spPr/>
      <dgm:t>
        <a:bodyPr/>
        <a:lstStyle/>
        <a:p>
          <a:endParaRPr lang="en-US"/>
        </a:p>
      </dgm:t>
    </dgm:pt>
    <dgm:pt modelId="{75597CDD-31D8-47CC-92B9-F6E56AFD8233}" type="pres">
      <dgm:prSet presAssocID="{07985E3B-18EC-4819-A3CE-94663A4AE07A}" presName="root" presStyleCnt="0">
        <dgm:presLayoutVars>
          <dgm:dir/>
          <dgm:resizeHandles val="exact"/>
        </dgm:presLayoutVars>
      </dgm:prSet>
      <dgm:spPr/>
    </dgm:pt>
    <dgm:pt modelId="{7E10FE87-D86B-4394-9B3D-FAB1A34F36BD}" type="pres">
      <dgm:prSet presAssocID="{58FEE20F-513D-4E45-8F72-82C2E6FB035E}" presName="compNode" presStyleCnt="0"/>
      <dgm:spPr/>
    </dgm:pt>
    <dgm:pt modelId="{8FD62890-AE24-410F-A25C-C935AAB78640}" type="pres">
      <dgm:prSet presAssocID="{58FEE20F-513D-4E45-8F72-82C2E6FB035E}" presName="bgRect" presStyleLbl="bgShp" presStyleIdx="0" presStyleCnt="4"/>
      <dgm:spPr/>
    </dgm:pt>
    <dgm:pt modelId="{B589D583-2A69-459C-9637-1929ED43ED31}" type="pres">
      <dgm:prSet presAssocID="{58FEE20F-513D-4E45-8F72-82C2E6FB035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Hand with Plant"/>
        </a:ext>
      </dgm:extLst>
    </dgm:pt>
    <dgm:pt modelId="{C96EBB39-321D-40A9-B987-DAE61EC26D2A}" type="pres">
      <dgm:prSet presAssocID="{58FEE20F-513D-4E45-8F72-82C2E6FB035E}" presName="spaceRect" presStyleCnt="0"/>
      <dgm:spPr/>
    </dgm:pt>
    <dgm:pt modelId="{00EB0889-DE8C-4513-A8A6-74CFC69E5371}" type="pres">
      <dgm:prSet presAssocID="{58FEE20F-513D-4E45-8F72-82C2E6FB035E}" presName="parTx" presStyleLbl="revTx" presStyleIdx="0" presStyleCnt="4">
        <dgm:presLayoutVars>
          <dgm:chMax val="0"/>
          <dgm:chPref val="0"/>
        </dgm:presLayoutVars>
      </dgm:prSet>
      <dgm:spPr/>
    </dgm:pt>
    <dgm:pt modelId="{43006743-CF4A-4FFB-BF0B-AF7EDD7C0711}" type="pres">
      <dgm:prSet presAssocID="{87B34B02-B9B5-4E74-B61D-E2486C3304B2}" presName="sibTrans" presStyleCnt="0"/>
      <dgm:spPr/>
    </dgm:pt>
    <dgm:pt modelId="{742E105C-739A-4F7C-9FE5-28387E48BACD}" type="pres">
      <dgm:prSet presAssocID="{9075FDAA-3588-4131-A5D8-CEE335E456DF}" presName="compNode" presStyleCnt="0"/>
      <dgm:spPr/>
    </dgm:pt>
    <dgm:pt modelId="{F189B44B-C525-4CA3-9293-E849B197E953}" type="pres">
      <dgm:prSet presAssocID="{9075FDAA-3588-4131-A5D8-CEE335E456DF}" presName="bgRect" presStyleLbl="bgShp" presStyleIdx="1" presStyleCnt="4"/>
      <dgm:spPr/>
    </dgm:pt>
    <dgm:pt modelId="{409B4AD1-DEAC-448B-8192-21267B86BF35}" type="pres">
      <dgm:prSet presAssocID="{9075FDAA-3588-4131-A5D8-CEE335E456D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33D670B9-7E1B-4DD0-A350-9DB287942F98}" type="pres">
      <dgm:prSet presAssocID="{9075FDAA-3588-4131-A5D8-CEE335E456DF}" presName="spaceRect" presStyleCnt="0"/>
      <dgm:spPr/>
    </dgm:pt>
    <dgm:pt modelId="{1F9E80A8-432E-4401-8076-92E359975776}" type="pres">
      <dgm:prSet presAssocID="{9075FDAA-3588-4131-A5D8-CEE335E456DF}" presName="parTx" presStyleLbl="revTx" presStyleIdx="1" presStyleCnt="4">
        <dgm:presLayoutVars>
          <dgm:chMax val="0"/>
          <dgm:chPref val="0"/>
        </dgm:presLayoutVars>
      </dgm:prSet>
      <dgm:spPr/>
    </dgm:pt>
    <dgm:pt modelId="{68069065-42A0-425E-A969-DBF7F1DA5F61}" type="pres">
      <dgm:prSet presAssocID="{AE88F968-EF11-4BE6-B074-07EA0E88B477}" presName="sibTrans" presStyleCnt="0"/>
      <dgm:spPr/>
    </dgm:pt>
    <dgm:pt modelId="{0213F555-BC14-47D8-A174-4BB9E6B9D13C}" type="pres">
      <dgm:prSet presAssocID="{3DD4DC91-14A3-404D-8965-F4B749FA413B}" presName="compNode" presStyleCnt="0"/>
      <dgm:spPr/>
    </dgm:pt>
    <dgm:pt modelId="{F3A6C3D4-5A7D-403D-95E9-E5EE03B2296A}" type="pres">
      <dgm:prSet presAssocID="{3DD4DC91-14A3-404D-8965-F4B749FA413B}" presName="bgRect" presStyleLbl="bgShp" presStyleIdx="2" presStyleCnt="4"/>
      <dgm:spPr/>
    </dgm:pt>
    <dgm:pt modelId="{604D2F39-4803-4D5B-9C61-6464EAD35A26}" type="pres">
      <dgm:prSet presAssocID="{3DD4DC91-14A3-404D-8965-F4B749FA413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C22C38A8-D8A0-4E52-A6CB-5A1233BA8F6C}" type="pres">
      <dgm:prSet presAssocID="{3DD4DC91-14A3-404D-8965-F4B749FA413B}" presName="spaceRect" presStyleCnt="0"/>
      <dgm:spPr/>
    </dgm:pt>
    <dgm:pt modelId="{F3047127-4C9F-4BEC-BFB7-4F7345ACAD4B}" type="pres">
      <dgm:prSet presAssocID="{3DD4DC91-14A3-404D-8965-F4B749FA413B}" presName="parTx" presStyleLbl="revTx" presStyleIdx="2" presStyleCnt="4">
        <dgm:presLayoutVars>
          <dgm:chMax val="0"/>
          <dgm:chPref val="0"/>
        </dgm:presLayoutVars>
      </dgm:prSet>
      <dgm:spPr/>
    </dgm:pt>
    <dgm:pt modelId="{6F0171E4-5631-4057-AFB2-D0B5E1C96A13}" type="pres">
      <dgm:prSet presAssocID="{D7C5D62E-02B7-4219-8F7C-76AE8EF73D11}" presName="sibTrans" presStyleCnt="0"/>
      <dgm:spPr/>
    </dgm:pt>
    <dgm:pt modelId="{613B1C29-C49E-438F-BE03-8B48653D15BA}" type="pres">
      <dgm:prSet presAssocID="{1F94A90F-B8CD-4AFA-9907-A240B6C4DEE1}" presName="compNode" presStyleCnt="0"/>
      <dgm:spPr/>
    </dgm:pt>
    <dgm:pt modelId="{1D986AE3-C9CD-4081-80C5-DB2E38EF62E2}" type="pres">
      <dgm:prSet presAssocID="{1F94A90F-B8CD-4AFA-9907-A240B6C4DEE1}" presName="bgRect" presStyleLbl="bgShp" presStyleIdx="3" presStyleCnt="4"/>
      <dgm:spPr/>
    </dgm:pt>
    <dgm:pt modelId="{ABD8ECEC-2B13-4F88-94CB-79B02C4756E9}" type="pres">
      <dgm:prSet presAssocID="{1F94A90F-B8CD-4AFA-9907-A240B6C4DEE1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B01D0083-C855-46CF-897F-B99441BCE224}" type="pres">
      <dgm:prSet presAssocID="{1F94A90F-B8CD-4AFA-9907-A240B6C4DEE1}" presName="spaceRect" presStyleCnt="0"/>
      <dgm:spPr/>
    </dgm:pt>
    <dgm:pt modelId="{F689134D-D77E-4E4D-846B-CC78830EBE1C}" type="pres">
      <dgm:prSet presAssocID="{1F94A90F-B8CD-4AFA-9907-A240B6C4DEE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8C44C1B-1A17-4643-85E0-A165799CEE8B}" type="presOf" srcId="{3DD4DC91-14A3-404D-8965-F4B749FA413B}" destId="{F3047127-4C9F-4BEC-BFB7-4F7345ACAD4B}" srcOrd="0" destOrd="0" presId="urn:microsoft.com/office/officeart/2018/2/layout/IconVerticalSolidList"/>
    <dgm:cxn modelId="{1F052C30-806D-4442-B410-806B1A4B6A92}" type="presOf" srcId="{1F94A90F-B8CD-4AFA-9907-A240B6C4DEE1}" destId="{F689134D-D77E-4E4D-846B-CC78830EBE1C}" srcOrd="0" destOrd="0" presId="urn:microsoft.com/office/officeart/2018/2/layout/IconVerticalSolidList"/>
    <dgm:cxn modelId="{98547060-D7E5-4115-B70B-EFC723F6577A}" srcId="{07985E3B-18EC-4819-A3CE-94663A4AE07A}" destId="{1F94A90F-B8CD-4AFA-9907-A240B6C4DEE1}" srcOrd="3" destOrd="0" parTransId="{BB041ED1-A60C-48A8-AE03-B0C8D3371DCB}" sibTransId="{4B623ECE-16A1-47E8-8F9E-A1ED76693221}"/>
    <dgm:cxn modelId="{77B27867-8857-449E-84C6-05B1F23F9BEC}" srcId="{07985E3B-18EC-4819-A3CE-94663A4AE07A}" destId="{58FEE20F-513D-4E45-8F72-82C2E6FB035E}" srcOrd="0" destOrd="0" parTransId="{B7031ADE-18DD-4AD8-A5BD-B27DA39738B3}" sibTransId="{87B34B02-B9B5-4E74-B61D-E2486C3304B2}"/>
    <dgm:cxn modelId="{76418873-4F43-4923-8D91-AFF19D0DFB70}" type="presOf" srcId="{9075FDAA-3588-4131-A5D8-CEE335E456DF}" destId="{1F9E80A8-432E-4401-8076-92E359975776}" srcOrd="0" destOrd="0" presId="urn:microsoft.com/office/officeart/2018/2/layout/IconVerticalSolidList"/>
    <dgm:cxn modelId="{301D2CC0-D53E-4790-93E5-6DAF861D518D}" type="presOf" srcId="{07985E3B-18EC-4819-A3CE-94663A4AE07A}" destId="{75597CDD-31D8-47CC-92B9-F6E56AFD8233}" srcOrd="0" destOrd="0" presId="urn:microsoft.com/office/officeart/2018/2/layout/IconVerticalSolidList"/>
    <dgm:cxn modelId="{0121CFDA-DD2E-4A6F-82BA-143AD6219642}" type="presOf" srcId="{58FEE20F-513D-4E45-8F72-82C2E6FB035E}" destId="{00EB0889-DE8C-4513-A8A6-74CFC69E5371}" srcOrd="0" destOrd="0" presId="urn:microsoft.com/office/officeart/2018/2/layout/IconVerticalSolidList"/>
    <dgm:cxn modelId="{7EB32AF4-E5D1-4881-A898-C26E2C4E235D}" srcId="{07985E3B-18EC-4819-A3CE-94663A4AE07A}" destId="{3DD4DC91-14A3-404D-8965-F4B749FA413B}" srcOrd="2" destOrd="0" parTransId="{CE4630D2-6B22-4475-9232-0F70E61A8AA0}" sibTransId="{D7C5D62E-02B7-4219-8F7C-76AE8EF73D11}"/>
    <dgm:cxn modelId="{59F2C8F9-7505-409D-B540-AF32B4D2E1CB}" srcId="{07985E3B-18EC-4819-A3CE-94663A4AE07A}" destId="{9075FDAA-3588-4131-A5D8-CEE335E456DF}" srcOrd="1" destOrd="0" parTransId="{113F6F72-0C03-484D-A1FD-6107579F0265}" sibTransId="{AE88F968-EF11-4BE6-B074-07EA0E88B477}"/>
    <dgm:cxn modelId="{AA6B4443-01E9-4DC5-9642-F7E96057ACB7}" type="presParOf" srcId="{75597CDD-31D8-47CC-92B9-F6E56AFD8233}" destId="{7E10FE87-D86B-4394-9B3D-FAB1A34F36BD}" srcOrd="0" destOrd="0" presId="urn:microsoft.com/office/officeart/2018/2/layout/IconVerticalSolidList"/>
    <dgm:cxn modelId="{48841981-8EE9-4C9E-A0BF-75954B4A219B}" type="presParOf" srcId="{7E10FE87-D86B-4394-9B3D-FAB1A34F36BD}" destId="{8FD62890-AE24-410F-A25C-C935AAB78640}" srcOrd="0" destOrd="0" presId="urn:microsoft.com/office/officeart/2018/2/layout/IconVerticalSolidList"/>
    <dgm:cxn modelId="{592E8204-596C-49DB-9707-B8EAF242A007}" type="presParOf" srcId="{7E10FE87-D86B-4394-9B3D-FAB1A34F36BD}" destId="{B589D583-2A69-459C-9637-1929ED43ED31}" srcOrd="1" destOrd="0" presId="urn:microsoft.com/office/officeart/2018/2/layout/IconVerticalSolidList"/>
    <dgm:cxn modelId="{DD36E6C6-AF88-4707-838C-5846DD21816C}" type="presParOf" srcId="{7E10FE87-D86B-4394-9B3D-FAB1A34F36BD}" destId="{C96EBB39-321D-40A9-B987-DAE61EC26D2A}" srcOrd="2" destOrd="0" presId="urn:microsoft.com/office/officeart/2018/2/layout/IconVerticalSolidList"/>
    <dgm:cxn modelId="{BB5684D2-4CDA-45DA-BAF0-899901B0EC51}" type="presParOf" srcId="{7E10FE87-D86B-4394-9B3D-FAB1A34F36BD}" destId="{00EB0889-DE8C-4513-A8A6-74CFC69E5371}" srcOrd="3" destOrd="0" presId="urn:microsoft.com/office/officeart/2018/2/layout/IconVerticalSolidList"/>
    <dgm:cxn modelId="{F1CC326D-206A-400F-A38E-778F5E9B9061}" type="presParOf" srcId="{75597CDD-31D8-47CC-92B9-F6E56AFD8233}" destId="{43006743-CF4A-4FFB-BF0B-AF7EDD7C0711}" srcOrd="1" destOrd="0" presId="urn:microsoft.com/office/officeart/2018/2/layout/IconVerticalSolidList"/>
    <dgm:cxn modelId="{AC1E7CB2-01CE-4512-8166-FE53E1050A05}" type="presParOf" srcId="{75597CDD-31D8-47CC-92B9-F6E56AFD8233}" destId="{742E105C-739A-4F7C-9FE5-28387E48BACD}" srcOrd="2" destOrd="0" presId="urn:microsoft.com/office/officeart/2018/2/layout/IconVerticalSolidList"/>
    <dgm:cxn modelId="{4F249DBE-C292-452F-95DF-E7D46F1DC448}" type="presParOf" srcId="{742E105C-739A-4F7C-9FE5-28387E48BACD}" destId="{F189B44B-C525-4CA3-9293-E849B197E953}" srcOrd="0" destOrd="0" presId="urn:microsoft.com/office/officeart/2018/2/layout/IconVerticalSolidList"/>
    <dgm:cxn modelId="{6EDC187F-94D9-4E25-9483-0D3E7B04CEB7}" type="presParOf" srcId="{742E105C-739A-4F7C-9FE5-28387E48BACD}" destId="{409B4AD1-DEAC-448B-8192-21267B86BF35}" srcOrd="1" destOrd="0" presId="urn:microsoft.com/office/officeart/2018/2/layout/IconVerticalSolidList"/>
    <dgm:cxn modelId="{4D033901-D954-42D7-9F5A-BDE40CC7FB19}" type="presParOf" srcId="{742E105C-739A-4F7C-9FE5-28387E48BACD}" destId="{33D670B9-7E1B-4DD0-A350-9DB287942F98}" srcOrd="2" destOrd="0" presId="urn:microsoft.com/office/officeart/2018/2/layout/IconVerticalSolidList"/>
    <dgm:cxn modelId="{BA52A21F-DD83-4B11-A71E-2877A6A72731}" type="presParOf" srcId="{742E105C-739A-4F7C-9FE5-28387E48BACD}" destId="{1F9E80A8-432E-4401-8076-92E359975776}" srcOrd="3" destOrd="0" presId="urn:microsoft.com/office/officeart/2018/2/layout/IconVerticalSolidList"/>
    <dgm:cxn modelId="{81DBF283-A8C1-44CF-AB71-B94D078582DE}" type="presParOf" srcId="{75597CDD-31D8-47CC-92B9-F6E56AFD8233}" destId="{68069065-42A0-425E-A969-DBF7F1DA5F61}" srcOrd="3" destOrd="0" presId="urn:microsoft.com/office/officeart/2018/2/layout/IconVerticalSolidList"/>
    <dgm:cxn modelId="{B60A5E74-7A5A-4B73-9C2A-CDCA679D0D15}" type="presParOf" srcId="{75597CDD-31D8-47CC-92B9-F6E56AFD8233}" destId="{0213F555-BC14-47D8-A174-4BB9E6B9D13C}" srcOrd="4" destOrd="0" presId="urn:microsoft.com/office/officeart/2018/2/layout/IconVerticalSolidList"/>
    <dgm:cxn modelId="{7AD64DA7-582E-4F33-BA7C-837C40324694}" type="presParOf" srcId="{0213F555-BC14-47D8-A174-4BB9E6B9D13C}" destId="{F3A6C3D4-5A7D-403D-95E9-E5EE03B2296A}" srcOrd="0" destOrd="0" presId="urn:microsoft.com/office/officeart/2018/2/layout/IconVerticalSolidList"/>
    <dgm:cxn modelId="{41F44B15-2F35-4C39-A5B0-85C44A8B55FC}" type="presParOf" srcId="{0213F555-BC14-47D8-A174-4BB9E6B9D13C}" destId="{604D2F39-4803-4D5B-9C61-6464EAD35A26}" srcOrd="1" destOrd="0" presId="urn:microsoft.com/office/officeart/2018/2/layout/IconVerticalSolidList"/>
    <dgm:cxn modelId="{4CADBFCA-B677-4738-B50C-950DDE38BF0B}" type="presParOf" srcId="{0213F555-BC14-47D8-A174-4BB9E6B9D13C}" destId="{C22C38A8-D8A0-4E52-A6CB-5A1233BA8F6C}" srcOrd="2" destOrd="0" presId="urn:microsoft.com/office/officeart/2018/2/layout/IconVerticalSolidList"/>
    <dgm:cxn modelId="{C478BC98-5EEC-4A2A-B332-6B97D7F2706A}" type="presParOf" srcId="{0213F555-BC14-47D8-A174-4BB9E6B9D13C}" destId="{F3047127-4C9F-4BEC-BFB7-4F7345ACAD4B}" srcOrd="3" destOrd="0" presId="urn:microsoft.com/office/officeart/2018/2/layout/IconVerticalSolidList"/>
    <dgm:cxn modelId="{15D366AE-F9E7-4A5C-A67F-216AC7C1FDE4}" type="presParOf" srcId="{75597CDD-31D8-47CC-92B9-F6E56AFD8233}" destId="{6F0171E4-5631-4057-AFB2-D0B5E1C96A13}" srcOrd="5" destOrd="0" presId="urn:microsoft.com/office/officeart/2018/2/layout/IconVerticalSolidList"/>
    <dgm:cxn modelId="{BFCBC96C-77CF-4855-9D35-38F2482E39BB}" type="presParOf" srcId="{75597CDD-31D8-47CC-92B9-F6E56AFD8233}" destId="{613B1C29-C49E-438F-BE03-8B48653D15BA}" srcOrd="6" destOrd="0" presId="urn:microsoft.com/office/officeart/2018/2/layout/IconVerticalSolidList"/>
    <dgm:cxn modelId="{6D065D3A-A301-4B5B-B228-7AD3715AFC82}" type="presParOf" srcId="{613B1C29-C49E-438F-BE03-8B48653D15BA}" destId="{1D986AE3-C9CD-4081-80C5-DB2E38EF62E2}" srcOrd="0" destOrd="0" presId="urn:microsoft.com/office/officeart/2018/2/layout/IconVerticalSolidList"/>
    <dgm:cxn modelId="{BFD385AF-9D10-485C-9764-DD0B4FA3B10E}" type="presParOf" srcId="{613B1C29-C49E-438F-BE03-8B48653D15BA}" destId="{ABD8ECEC-2B13-4F88-94CB-79B02C4756E9}" srcOrd="1" destOrd="0" presId="urn:microsoft.com/office/officeart/2018/2/layout/IconVerticalSolidList"/>
    <dgm:cxn modelId="{2DBEF704-E283-43FD-9641-703BB4783A7E}" type="presParOf" srcId="{613B1C29-C49E-438F-BE03-8B48653D15BA}" destId="{B01D0083-C855-46CF-897F-B99441BCE224}" srcOrd="2" destOrd="0" presId="urn:microsoft.com/office/officeart/2018/2/layout/IconVerticalSolidList"/>
    <dgm:cxn modelId="{D7B2F7E7-9A91-4054-B112-5CB2F6329CA6}" type="presParOf" srcId="{613B1C29-C49E-438F-BE03-8B48653D15BA}" destId="{F689134D-D77E-4E4D-846B-CC78830EBE1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AC90C0C-0A34-44C4-A888-A760DDCDE8EF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244C327-62DD-4127-BBB3-F162E69FA163}">
      <dgm:prSet/>
      <dgm:spPr/>
      <dgm:t>
        <a:bodyPr/>
        <a:lstStyle/>
        <a:p>
          <a:r>
            <a:rPr lang="en-US" b="1"/>
            <a:t>The Pool: </a:t>
          </a:r>
          <a:r>
            <a:rPr lang="en-US"/>
            <a:t>Strictly “Cinderella Candidates (seed 10 through 16).</a:t>
          </a:r>
        </a:p>
      </dgm:t>
    </dgm:pt>
    <dgm:pt modelId="{130D473A-988B-4668-AA62-3B1DF509DE00}" type="parTrans" cxnId="{DA93137B-D703-4D6B-B366-F2DB85CE94BF}">
      <dgm:prSet/>
      <dgm:spPr/>
      <dgm:t>
        <a:bodyPr/>
        <a:lstStyle/>
        <a:p>
          <a:endParaRPr lang="en-US"/>
        </a:p>
      </dgm:t>
    </dgm:pt>
    <dgm:pt modelId="{D899C8B4-DFB8-448C-A917-14B16AA4B37D}" type="sibTrans" cxnId="{DA93137B-D703-4D6B-B366-F2DB85CE94BF}">
      <dgm:prSet/>
      <dgm:spPr/>
      <dgm:t>
        <a:bodyPr/>
        <a:lstStyle/>
        <a:p>
          <a:endParaRPr lang="en-US"/>
        </a:p>
      </dgm:t>
    </dgm:pt>
    <dgm:pt modelId="{36B64279-2124-4BE1-9540-2B1B8DEFFF36}">
      <dgm:prSet/>
      <dgm:spPr/>
      <dgm:t>
        <a:bodyPr/>
        <a:lstStyle/>
        <a:p>
          <a:r>
            <a:rPr lang="en-US" b="1"/>
            <a:t>The Target: </a:t>
          </a:r>
          <a:r>
            <a:rPr lang="en-US"/>
            <a:t>Reaching the Sweet 16</a:t>
          </a:r>
        </a:p>
      </dgm:t>
    </dgm:pt>
    <dgm:pt modelId="{409D49FC-D2D9-4735-9C2E-1A94D59DE6A5}" type="parTrans" cxnId="{C1070B3E-F155-43F0-A6A4-B4A8E12B160A}">
      <dgm:prSet/>
      <dgm:spPr/>
      <dgm:t>
        <a:bodyPr/>
        <a:lstStyle/>
        <a:p>
          <a:endParaRPr lang="en-US"/>
        </a:p>
      </dgm:t>
    </dgm:pt>
    <dgm:pt modelId="{51402C73-91BB-46DD-BCA4-A80C08969667}" type="sibTrans" cxnId="{C1070B3E-F155-43F0-A6A4-B4A8E12B160A}">
      <dgm:prSet/>
      <dgm:spPr/>
      <dgm:t>
        <a:bodyPr/>
        <a:lstStyle/>
        <a:p>
          <a:endParaRPr lang="en-US"/>
        </a:p>
      </dgm:t>
    </dgm:pt>
    <dgm:pt modelId="{32EED0CE-423D-4A40-995F-C6776E473085}">
      <dgm:prSet/>
      <dgm:spPr/>
      <dgm:t>
        <a:bodyPr/>
        <a:lstStyle/>
        <a:p>
          <a:r>
            <a:rPr lang="en-US" b="1"/>
            <a:t>The Challenge: </a:t>
          </a:r>
          <a:r>
            <a:rPr lang="en-US"/>
            <a:t>Extreme Class Imbalance (Only ~45 true Cinderellas out of 680 candidates = ~6.6%</a:t>
          </a:r>
        </a:p>
      </dgm:t>
    </dgm:pt>
    <dgm:pt modelId="{7D0ED1F0-3569-4178-BC82-D0062D434707}" type="parTrans" cxnId="{E23B3E16-D7B0-41AA-AE83-8E3E9AB16313}">
      <dgm:prSet/>
      <dgm:spPr/>
      <dgm:t>
        <a:bodyPr/>
        <a:lstStyle/>
        <a:p>
          <a:endParaRPr lang="en-US"/>
        </a:p>
      </dgm:t>
    </dgm:pt>
    <dgm:pt modelId="{13FDB224-27CD-468A-95E5-10296E96456C}" type="sibTrans" cxnId="{E23B3E16-D7B0-41AA-AE83-8E3E9AB16313}">
      <dgm:prSet/>
      <dgm:spPr/>
      <dgm:t>
        <a:bodyPr/>
        <a:lstStyle/>
        <a:p>
          <a:endParaRPr lang="en-US"/>
        </a:p>
      </dgm:t>
    </dgm:pt>
    <dgm:pt modelId="{7ED885B8-573F-4374-A607-E9CCD052A7AF}">
      <dgm:prSet/>
      <dgm:spPr/>
      <dgm:t>
        <a:bodyPr/>
        <a:lstStyle/>
        <a:p>
          <a:r>
            <a:rPr lang="en-US" b="1"/>
            <a:t>The Metrics: </a:t>
          </a:r>
          <a:r>
            <a:rPr lang="en-US"/>
            <a:t>Precision-Recall AUC (PR-AUC) and F1 Score</a:t>
          </a:r>
        </a:p>
      </dgm:t>
    </dgm:pt>
    <dgm:pt modelId="{527345AD-07DB-4796-A02D-A9ABF5D6A591}" type="parTrans" cxnId="{F5004BEE-5C6A-4279-8F11-BE59E984B574}">
      <dgm:prSet/>
      <dgm:spPr/>
      <dgm:t>
        <a:bodyPr/>
        <a:lstStyle/>
        <a:p>
          <a:endParaRPr lang="en-US"/>
        </a:p>
      </dgm:t>
    </dgm:pt>
    <dgm:pt modelId="{A346F3DD-89F0-4DCA-A6AF-BC1E37634A50}" type="sibTrans" cxnId="{F5004BEE-5C6A-4279-8F11-BE59E984B574}">
      <dgm:prSet/>
      <dgm:spPr/>
      <dgm:t>
        <a:bodyPr/>
        <a:lstStyle/>
        <a:p>
          <a:endParaRPr lang="en-US"/>
        </a:p>
      </dgm:t>
    </dgm:pt>
    <dgm:pt modelId="{960DAD15-C566-4173-AC62-B4C0799E57C7}" type="pres">
      <dgm:prSet presAssocID="{1AC90C0C-0A34-44C4-A888-A760DDCDE8EF}" presName="linear" presStyleCnt="0">
        <dgm:presLayoutVars>
          <dgm:animLvl val="lvl"/>
          <dgm:resizeHandles val="exact"/>
        </dgm:presLayoutVars>
      </dgm:prSet>
      <dgm:spPr/>
    </dgm:pt>
    <dgm:pt modelId="{BA0BDB99-6C13-48A7-95E9-7B8CB19DFC6B}" type="pres">
      <dgm:prSet presAssocID="{A244C327-62DD-4127-BBB3-F162E69FA16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37D3A07-AD55-4280-90DD-0750DE08C720}" type="pres">
      <dgm:prSet presAssocID="{D899C8B4-DFB8-448C-A917-14B16AA4B37D}" presName="spacer" presStyleCnt="0"/>
      <dgm:spPr/>
    </dgm:pt>
    <dgm:pt modelId="{92A9DC77-3381-48EE-AE93-2E1D48CAA540}" type="pres">
      <dgm:prSet presAssocID="{36B64279-2124-4BE1-9540-2B1B8DEFFF3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68678B-4E83-4BA1-AC6E-0665681C8C0D}" type="pres">
      <dgm:prSet presAssocID="{51402C73-91BB-46DD-BCA4-A80C08969667}" presName="spacer" presStyleCnt="0"/>
      <dgm:spPr/>
    </dgm:pt>
    <dgm:pt modelId="{559BC1A5-774E-4A3B-8B7A-679673BB04D4}" type="pres">
      <dgm:prSet presAssocID="{32EED0CE-423D-4A40-995F-C6776E47308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0F39DD4-57CC-4B0D-8D08-3978A7BB3CAE}" type="pres">
      <dgm:prSet presAssocID="{13FDB224-27CD-468A-95E5-10296E96456C}" presName="spacer" presStyleCnt="0"/>
      <dgm:spPr/>
    </dgm:pt>
    <dgm:pt modelId="{C4C4BC72-2AE6-416D-8ADF-0220106CB8A8}" type="pres">
      <dgm:prSet presAssocID="{7ED885B8-573F-4374-A607-E9CCD052A7A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E23B3E16-D7B0-41AA-AE83-8E3E9AB16313}" srcId="{1AC90C0C-0A34-44C4-A888-A760DDCDE8EF}" destId="{32EED0CE-423D-4A40-995F-C6776E473085}" srcOrd="2" destOrd="0" parTransId="{7D0ED1F0-3569-4178-BC82-D0062D434707}" sibTransId="{13FDB224-27CD-468A-95E5-10296E96456C}"/>
    <dgm:cxn modelId="{CF574234-1FFE-4641-8B4E-38E8FFD6C2EC}" type="presOf" srcId="{7ED885B8-573F-4374-A607-E9CCD052A7AF}" destId="{C4C4BC72-2AE6-416D-8ADF-0220106CB8A8}" srcOrd="0" destOrd="0" presId="urn:microsoft.com/office/officeart/2005/8/layout/vList2"/>
    <dgm:cxn modelId="{73BCEE3C-C889-418A-AC71-D87D15027EF4}" type="presOf" srcId="{1AC90C0C-0A34-44C4-A888-A760DDCDE8EF}" destId="{960DAD15-C566-4173-AC62-B4C0799E57C7}" srcOrd="0" destOrd="0" presId="urn:microsoft.com/office/officeart/2005/8/layout/vList2"/>
    <dgm:cxn modelId="{C1070B3E-F155-43F0-A6A4-B4A8E12B160A}" srcId="{1AC90C0C-0A34-44C4-A888-A760DDCDE8EF}" destId="{36B64279-2124-4BE1-9540-2B1B8DEFFF36}" srcOrd="1" destOrd="0" parTransId="{409D49FC-D2D9-4735-9C2E-1A94D59DE6A5}" sibTransId="{51402C73-91BB-46DD-BCA4-A80C08969667}"/>
    <dgm:cxn modelId="{1A552579-884E-4520-A31D-1FB6C23FB3B2}" type="presOf" srcId="{32EED0CE-423D-4A40-995F-C6776E473085}" destId="{559BC1A5-774E-4A3B-8B7A-679673BB04D4}" srcOrd="0" destOrd="0" presId="urn:microsoft.com/office/officeart/2005/8/layout/vList2"/>
    <dgm:cxn modelId="{DA93137B-D703-4D6B-B366-F2DB85CE94BF}" srcId="{1AC90C0C-0A34-44C4-A888-A760DDCDE8EF}" destId="{A244C327-62DD-4127-BBB3-F162E69FA163}" srcOrd="0" destOrd="0" parTransId="{130D473A-988B-4668-AA62-3B1DF509DE00}" sibTransId="{D899C8B4-DFB8-448C-A917-14B16AA4B37D}"/>
    <dgm:cxn modelId="{B3CA93C3-96A7-49D3-8BBD-BFE81C92D728}" type="presOf" srcId="{A244C327-62DD-4127-BBB3-F162E69FA163}" destId="{BA0BDB99-6C13-48A7-95E9-7B8CB19DFC6B}" srcOrd="0" destOrd="0" presId="urn:microsoft.com/office/officeart/2005/8/layout/vList2"/>
    <dgm:cxn modelId="{535DF0C4-95CB-44B9-ACA7-00522D07191C}" type="presOf" srcId="{36B64279-2124-4BE1-9540-2B1B8DEFFF36}" destId="{92A9DC77-3381-48EE-AE93-2E1D48CAA540}" srcOrd="0" destOrd="0" presId="urn:microsoft.com/office/officeart/2005/8/layout/vList2"/>
    <dgm:cxn modelId="{F5004BEE-5C6A-4279-8F11-BE59E984B574}" srcId="{1AC90C0C-0A34-44C4-A888-A760DDCDE8EF}" destId="{7ED885B8-573F-4374-A607-E9CCD052A7AF}" srcOrd="3" destOrd="0" parTransId="{527345AD-07DB-4796-A02D-A9ABF5D6A591}" sibTransId="{A346F3DD-89F0-4DCA-A6AF-BC1E37634A50}"/>
    <dgm:cxn modelId="{A035AA38-6301-4C1D-AB82-AF911A60EC46}" type="presParOf" srcId="{960DAD15-C566-4173-AC62-B4C0799E57C7}" destId="{BA0BDB99-6C13-48A7-95E9-7B8CB19DFC6B}" srcOrd="0" destOrd="0" presId="urn:microsoft.com/office/officeart/2005/8/layout/vList2"/>
    <dgm:cxn modelId="{096AC96F-A4A6-427B-B26C-DCBFCBD68D31}" type="presParOf" srcId="{960DAD15-C566-4173-AC62-B4C0799E57C7}" destId="{A37D3A07-AD55-4280-90DD-0750DE08C720}" srcOrd="1" destOrd="0" presId="urn:microsoft.com/office/officeart/2005/8/layout/vList2"/>
    <dgm:cxn modelId="{F6582D08-652D-4B2C-8EFC-B474FBCD456F}" type="presParOf" srcId="{960DAD15-C566-4173-AC62-B4C0799E57C7}" destId="{92A9DC77-3381-48EE-AE93-2E1D48CAA540}" srcOrd="2" destOrd="0" presId="urn:microsoft.com/office/officeart/2005/8/layout/vList2"/>
    <dgm:cxn modelId="{0F5D550D-3340-45B9-A05B-6F97322843BA}" type="presParOf" srcId="{960DAD15-C566-4173-AC62-B4C0799E57C7}" destId="{2668678B-4E83-4BA1-AC6E-0665681C8C0D}" srcOrd="3" destOrd="0" presId="urn:microsoft.com/office/officeart/2005/8/layout/vList2"/>
    <dgm:cxn modelId="{C3B36DFD-98D1-4C42-9D40-948B35AC0E95}" type="presParOf" srcId="{960DAD15-C566-4173-AC62-B4C0799E57C7}" destId="{559BC1A5-774E-4A3B-8B7A-679673BB04D4}" srcOrd="4" destOrd="0" presId="urn:microsoft.com/office/officeart/2005/8/layout/vList2"/>
    <dgm:cxn modelId="{15339008-B73B-41AD-A51E-1A4C34E66499}" type="presParOf" srcId="{960DAD15-C566-4173-AC62-B4C0799E57C7}" destId="{70F39DD4-57CC-4B0D-8D08-3978A7BB3CAE}" srcOrd="5" destOrd="0" presId="urn:microsoft.com/office/officeart/2005/8/layout/vList2"/>
    <dgm:cxn modelId="{8F9F44D1-EE19-46AE-9618-2EFC92D5875C}" type="presParOf" srcId="{960DAD15-C566-4173-AC62-B4C0799E57C7}" destId="{C4C4BC72-2AE6-416D-8ADF-0220106CB8A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A956502-3703-4132-AC03-69BF4A4939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9009838-8A56-4C48-8D68-4AD8D79DF724}">
      <dgm:prSet/>
      <dgm:spPr/>
      <dgm:t>
        <a:bodyPr/>
        <a:lstStyle/>
        <a:p>
          <a:r>
            <a:rPr lang="en-US"/>
            <a:t>We proved our hypothesis that unsupervised metrics could improve our supervised upset predictions over a baseline model (guess 50-50 model). </a:t>
          </a:r>
        </a:p>
      </dgm:t>
    </dgm:pt>
    <dgm:pt modelId="{B68A8A97-53A1-4D21-88EA-5BC5598D398E}" type="parTrans" cxnId="{B6FBF076-F4C4-44C2-A0DA-7AA76CB1202F}">
      <dgm:prSet/>
      <dgm:spPr/>
      <dgm:t>
        <a:bodyPr/>
        <a:lstStyle/>
        <a:p>
          <a:endParaRPr lang="en-US"/>
        </a:p>
      </dgm:t>
    </dgm:pt>
    <dgm:pt modelId="{78D8B892-685E-4781-A8B9-712ED1144157}" type="sibTrans" cxnId="{B6FBF076-F4C4-44C2-A0DA-7AA76CB1202F}">
      <dgm:prSet/>
      <dgm:spPr/>
      <dgm:t>
        <a:bodyPr/>
        <a:lstStyle/>
        <a:p>
          <a:endParaRPr lang="en-US"/>
        </a:p>
      </dgm:t>
    </dgm:pt>
    <dgm:pt modelId="{109213F9-8B9A-457D-9FFB-808957D78B5F}">
      <dgm:prSet/>
      <dgm:spPr/>
      <dgm:t>
        <a:bodyPr/>
        <a:lstStyle/>
        <a:p>
          <a:r>
            <a:rPr lang="en-US"/>
            <a:t>Statistically, Cinderella runs are uncommon and thus difficult to work with due to imbalanced data. </a:t>
          </a:r>
        </a:p>
      </dgm:t>
    </dgm:pt>
    <dgm:pt modelId="{3C61ED98-DEB5-4291-AD23-642F840DF32A}" type="parTrans" cxnId="{BE8156B5-980D-479E-92C2-DE10FCAFB347}">
      <dgm:prSet/>
      <dgm:spPr/>
      <dgm:t>
        <a:bodyPr/>
        <a:lstStyle/>
        <a:p>
          <a:endParaRPr lang="en-US"/>
        </a:p>
      </dgm:t>
    </dgm:pt>
    <dgm:pt modelId="{ABC96685-BD00-4EDD-A4D0-E3DCBEF54363}" type="sibTrans" cxnId="{BE8156B5-980D-479E-92C2-DE10FCAFB347}">
      <dgm:prSet/>
      <dgm:spPr/>
      <dgm:t>
        <a:bodyPr/>
        <a:lstStyle/>
        <a:p>
          <a:endParaRPr lang="en-US"/>
        </a:p>
      </dgm:t>
    </dgm:pt>
    <dgm:pt modelId="{2FB49948-87B9-44DB-AAEB-DA06F8F47BC2}">
      <dgm:prSet/>
      <dgm:spPr/>
      <dgm:t>
        <a:bodyPr/>
        <a:lstStyle/>
        <a:p>
          <a:r>
            <a:rPr lang="en-US"/>
            <a:t>However, by looking at efficiency profiles, ball security, and team consistency, we can find teams that are better teams than their seed might suggest.</a:t>
          </a:r>
        </a:p>
      </dgm:t>
    </dgm:pt>
    <dgm:pt modelId="{7D0F421E-0498-4A7B-9813-7B60A318EF65}" type="parTrans" cxnId="{71BF8781-1204-4E3D-B2B0-BCD19C74A20C}">
      <dgm:prSet/>
      <dgm:spPr/>
      <dgm:t>
        <a:bodyPr/>
        <a:lstStyle/>
        <a:p>
          <a:endParaRPr lang="en-US"/>
        </a:p>
      </dgm:t>
    </dgm:pt>
    <dgm:pt modelId="{D5AC4E4F-E97A-48C8-A764-79F9C9717A54}" type="sibTrans" cxnId="{71BF8781-1204-4E3D-B2B0-BCD19C74A20C}">
      <dgm:prSet/>
      <dgm:spPr/>
      <dgm:t>
        <a:bodyPr/>
        <a:lstStyle/>
        <a:p>
          <a:endParaRPr lang="en-US"/>
        </a:p>
      </dgm:t>
    </dgm:pt>
    <dgm:pt modelId="{ABB376B8-BEB4-4AC4-B6A8-44101DF5D20F}" type="pres">
      <dgm:prSet presAssocID="{9A956502-3703-4132-AC03-69BF4A4939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ECC08F2-C111-4885-9897-0D24AA2E0CE3}" type="pres">
      <dgm:prSet presAssocID="{C9009838-8A56-4C48-8D68-4AD8D79DF724}" presName="hierRoot1" presStyleCnt="0"/>
      <dgm:spPr/>
    </dgm:pt>
    <dgm:pt modelId="{AB6DC64C-51C1-4D8B-8DA6-3EA56830112D}" type="pres">
      <dgm:prSet presAssocID="{C9009838-8A56-4C48-8D68-4AD8D79DF724}" presName="composite" presStyleCnt="0"/>
      <dgm:spPr/>
    </dgm:pt>
    <dgm:pt modelId="{EC11D090-7354-4F4F-8F49-C5CD23AC06F8}" type="pres">
      <dgm:prSet presAssocID="{C9009838-8A56-4C48-8D68-4AD8D79DF724}" presName="background" presStyleLbl="node0" presStyleIdx="0" presStyleCnt="3"/>
      <dgm:spPr/>
    </dgm:pt>
    <dgm:pt modelId="{83D75567-D77F-4DB4-87F6-FB83F4389902}" type="pres">
      <dgm:prSet presAssocID="{C9009838-8A56-4C48-8D68-4AD8D79DF724}" presName="text" presStyleLbl="fgAcc0" presStyleIdx="0" presStyleCnt="3">
        <dgm:presLayoutVars>
          <dgm:chPref val="3"/>
        </dgm:presLayoutVars>
      </dgm:prSet>
      <dgm:spPr/>
    </dgm:pt>
    <dgm:pt modelId="{DB7C6BDC-9F00-462B-BC7C-3BDB3A80CA68}" type="pres">
      <dgm:prSet presAssocID="{C9009838-8A56-4C48-8D68-4AD8D79DF724}" presName="hierChild2" presStyleCnt="0"/>
      <dgm:spPr/>
    </dgm:pt>
    <dgm:pt modelId="{47B729FD-76A8-4F5C-A8FF-BCADDD98D2D7}" type="pres">
      <dgm:prSet presAssocID="{109213F9-8B9A-457D-9FFB-808957D78B5F}" presName="hierRoot1" presStyleCnt="0"/>
      <dgm:spPr/>
    </dgm:pt>
    <dgm:pt modelId="{40C9D482-E318-426B-BB60-6ECB5AE2DBFA}" type="pres">
      <dgm:prSet presAssocID="{109213F9-8B9A-457D-9FFB-808957D78B5F}" presName="composite" presStyleCnt="0"/>
      <dgm:spPr/>
    </dgm:pt>
    <dgm:pt modelId="{F76CC354-EC1C-4237-9AF7-E24C401081B9}" type="pres">
      <dgm:prSet presAssocID="{109213F9-8B9A-457D-9FFB-808957D78B5F}" presName="background" presStyleLbl="node0" presStyleIdx="1" presStyleCnt="3"/>
      <dgm:spPr/>
    </dgm:pt>
    <dgm:pt modelId="{7B0DCC16-14D9-453E-9DA2-75672FE1E2EF}" type="pres">
      <dgm:prSet presAssocID="{109213F9-8B9A-457D-9FFB-808957D78B5F}" presName="text" presStyleLbl="fgAcc0" presStyleIdx="1" presStyleCnt="3">
        <dgm:presLayoutVars>
          <dgm:chPref val="3"/>
        </dgm:presLayoutVars>
      </dgm:prSet>
      <dgm:spPr/>
    </dgm:pt>
    <dgm:pt modelId="{D2912189-F0C6-484B-B55F-AA8B6C73CAA4}" type="pres">
      <dgm:prSet presAssocID="{109213F9-8B9A-457D-9FFB-808957D78B5F}" presName="hierChild2" presStyleCnt="0"/>
      <dgm:spPr/>
    </dgm:pt>
    <dgm:pt modelId="{7C88710D-B3A2-4CC0-B117-D9EC087CF0C2}" type="pres">
      <dgm:prSet presAssocID="{2FB49948-87B9-44DB-AAEB-DA06F8F47BC2}" presName="hierRoot1" presStyleCnt="0"/>
      <dgm:spPr/>
    </dgm:pt>
    <dgm:pt modelId="{EEBCC283-BA11-45C6-A04A-0F018BDD6297}" type="pres">
      <dgm:prSet presAssocID="{2FB49948-87B9-44DB-AAEB-DA06F8F47BC2}" presName="composite" presStyleCnt="0"/>
      <dgm:spPr/>
    </dgm:pt>
    <dgm:pt modelId="{14FAEA80-420A-4DF9-8C71-47C47D8F56E9}" type="pres">
      <dgm:prSet presAssocID="{2FB49948-87B9-44DB-AAEB-DA06F8F47BC2}" presName="background" presStyleLbl="node0" presStyleIdx="2" presStyleCnt="3"/>
      <dgm:spPr/>
    </dgm:pt>
    <dgm:pt modelId="{581A08C7-F3DA-450D-A4A2-96E835EA8E24}" type="pres">
      <dgm:prSet presAssocID="{2FB49948-87B9-44DB-AAEB-DA06F8F47BC2}" presName="text" presStyleLbl="fgAcc0" presStyleIdx="2" presStyleCnt="3">
        <dgm:presLayoutVars>
          <dgm:chPref val="3"/>
        </dgm:presLayoutVars>
      </dgm:prSet>
      <dgm:spPr/>
    </dgm:pt>
    <dgm:pt modelId="{4B2266E5-EA19-4DC6-B8EA-B02FF3D06E67}" type="pres">
      <dgm:prSet presAssocID="{2FB49948-87B9-44DB-AAEB-DA06F8F47BC2}" presName="hierChild2" presStyleCnt="0"/>
      <dgm:spPr/>
    </dgm:pt>
  </dgm:ptLst>
  <dgm:cxnLst>
    <dgm:cxn modelId="{742B2D0D-FA11-49BD-AFB7-D4848993CF24}" type="presOf" srcId="{109213F9-8B9A-457D-9FFB-808957D78B5F}" destId="{7B0DCC16-14D9-453E-9DA2-75672FE1E2EF}" srcOrd="0" destOrd="0" presId="urn:microsoft.com/office/officeart/2005/8/layout/hierarchy1"/>
    <dgm:cxn modelId="{BD2D6E62-2716-4F5E-9774-BAC8421648B9}" type="presOf" srcId="{C9009838-8A56-4C48-8D68-4AD8D79DF724}" destId="{83D75567-D77F-4DB4-87F6-FB83F4389902}" srcOrd="0" destOrd="0" presId="urn:microsoft.com/office/officeart/2005/8/layout/hierarchy1"/>
    <dgm:cxn modelId="{B6FBF076-F4C4-44C2-A0DA-7AA76CB1202F}" srcId="{9A956502-3703-4132-AC03-69BF4A493969}" destId="{C9009838-8A56-4C48-8D68-4AD8D79DF724}" srcOrd="0" destOrd="0" parTransId="{B68A8A97-53A1-4D21-88EA-5BC5598D398E}" sibTransId="{78D8B892-685E-4781-A8B9-712ED1144157}"/>
    <dgm:cxn modelId="{71BF8781-1204-4E3D-B2B0-BCD19C74A20C}" srcId="{9A956502-3703-4132-AC03-69BF4A493969}" destId="{2FB49948-87B9-44DB-AAEB-DA06F8F47BC2}" srcOrd="2" destOrd="0" parTransId="{7D0F421E-0498-4A7B-9813-7B60A318EF65}" sibTransId="{D5AC4E4F-E97A-48C8-A764-79F9C9717A54}"/>
    <dgm:cxn modelId="{F470EE93-5581-4209-ABD0-5511B51915D5}" type="presOf" srcId="{9A956502-3703-4132-AC03-69BF4A493969}" destId="{ABB376B8-BEB4-4AC4-B6A8-44101DF5D20F}" srcOrd="0" destOrd="0" presId="urn:microsoft.com/office/officeart/2005/8/layout/hierarchy1"/>
    <dgm:cxn modelId="{BE8156B5-980D-479E-92C2-DE10FCAFB347}" srcId="{9A956502-3703-4132-AC03-69BF4A493969}" destId="{109213F9-8B9A-457D-9FFB-808957D78B5F}" srcOrd="1" destOrd="0" parTransId="{3C61ED98-DEB5-4291-AD23-642F840DF32A}" sibTransId="{ABC96685-BD00-4EDD-A4D0-E3DCBEF54363}"/>
    <dgm:cxn modelId="{8B31FEDB-C666-4549-A8DD-7DFBAF5CEA45}" type="presOf" srcId="{2FB49948-87B9-44DB-AAEB-DA06F8F47BC2}" destId="{581A08C7-F3DA-450D-A4A2-96E835EA8E24}" srcOrd="0" destOrd="0" presId="urn:microsoft.com/office/officeart/2005/8/layout/hierarchy1"/>
    <dgm:cxn modelId="{36A7A178-1634-4195-9342-C717722CEFD2}" type="presParOf" srcId="{ABB376B8-BEB4-4AC4-B6A8-44101DF5D20F}" destId="{6ECC08F2-C111-4885-9897-0D24AA2E0CE3}" srcOrd="0" destOrd="0" presId="urn:microsoft.com/office/officeart/2005/8/layout/hierarchy1"/>
    <dgm:cxn modelId="{7B59CBEA-DC39-4C2B-A5C0-1285E9888A7A}" type="presParOf" srcId="{6ECC08F2-C111-4885-9897-0D24AA2E0CE3}" destId="{AB6DC64C-51C1-4D8B-8DA6-3EA56830112D}" srcOrd="0" destOrd="0" presId="urn:microsoft.com/office/officeart/2005/8/layout/hierarchy1"/>
    <dgm:cxn modelId="{3DC503BA-DAC4-4844-823D-4FCE5426BCA8}" type="presParOf" srcId="{AB6DC64C-51C1-4D8B-8DA6-3EA56830112D}" destId="{EC11D090-7354-4F4F-8F49-C5CD23AC06F8}" srcOrd="0" destOrd="0" presId="urn:microsoft.com/office/officeart/2005/8/layout/hierarchy1"/>
    <dgm:cxn modelId="{F12AD088-4EA4-463C-A33B-D2879228B245}" type="presParOf" srcId="{AB6DC64C-51C1-4D8B-8DA6-3EA56830112D}" destId="{83D75567-D77F-4DB4-87F6-FB83F4389902}" srcOrd="1" destOrd="0" presId="urn:microsoft.com/office/officeart/2005/8/layout/hierarchy1"/>
    <dgm:cxn modelId="{3A27ABA7-7C72-4679-83BB-C818DC40BF43}" type="presParOf" srcId="{6ECC08F2-C111-4885-9897-0D24AA2E0CE3}" destId="{DB7C6BDC-9F00-462B-BC7C-3BDB3A80CA68}" srcOrd="1" destOrd="0" presId="urn:microsoft.com/office/officeart/2005/8/layout/hierarchy1"/>
    <dgm:cxn modelId="{CDA2AB2C-63CA-40B9-A5DA-C64B64803105}" type="presParOf" srcId="{ABB376B8-BEB4-4AC4-B6A8-44101DF5D20F}" destId="{47B729FD-76A8-4F5C-A8FF-BCADDD98D2D7}" srcOrd="1" destOrd="0" presId="urn:microsoft.com/office/officeart/2005/8/layout/hierarchy1"/>
    <dgm:cxn modelId="{ED01DA84-5D7D-41B3-9C08-F667D513A6B9}" type="presParOf" srcId="{47B729FD-76A8-4F5C-A8FF-BCADDD98D2D7}" destId="{40C9D482-E318-426B-BB60-6ECB5AE2DBFA}" srcOrd="0" destOrd="0" presId="urn:microsoft.com/office/officeart/2005/8/layout/hierarchy1"/>
    <dgm:cxn modelId="{8DCD5344-5556-4E78-947D-B5087470442C}" type="presParOf" srcId="{40C9D482-E318-426B-BB60-6ECB5AE2DBFA}" destId="{F76CC354-EC1C-4237-9AF7-E24C401081B9}" srcOrd="0" destOrd="0" presId="urn:microsoft.com/office/officeart/2005/8/layout/hierarchy1"/>
    <dgm:cxn modelId="{02D7FC1C-4EB6-4F5C-8717-16C0BD3ACDA0}" type="presParOf" srcId="{40C9D482-E318-426B-BB60-6ECB5AE2DBFA}" destId="{7B0DCC16-14D9-453E-9DA2-75672FE1E2EF}" srcOrd="1" destOrd="0" presId="urn:microsoft.com/office/officeart/2005/8/layout/hierarchy1"/>
    <dgm:cxn modelId="{5DB0650D-38E7-4885-B547-74B7468F8E3D}" type="presParOf" srcId="{47B729FD-76A8-4F5C-A8FF-BCADDD98D2D7}" destId="{D2912189-F0C6-484B-B55F-AA8B6C73CAA4}" srcOrd="1" destOrd="0" presId="urn:microsoft.com/office/officeart/2005/8/layout/hierarchy1"/>
    <dgm:cxn modelId="{BFEF920B-3EB6-483C-B8C6-A0A114D5698C}" type="presParOf" srcId="{ABB376B8-BEB4-4AC4-B6A8-44101DF5D20F}" destId="{7C88710D-B3A2-4CC0-B117-D9EC087CF0C2}" srcOrd="2" destOrd="0" presId="urn:microsoft.com/office/officeart/2005/8/layout/hierarchy1"/>
    <dgm:cxn modelId="{1EC57B49-41DA-44C7-A7E4-9B484D6F45E4}" type="presParOf" srcId="{7C88710D-B3A2-4CC0-B117-D9EC087CF0C2}" destId="{EEBCC283-BA11-45C6-A04A-0F018BDD6297}" srcOrd="0" destOrd="0" presId="urn:microsoft.com/office/officeart/2005/8/layout/hierarchy1"/>
    <dgm:cxn modelId="{03A3532D-E5C9-4CA4-9E57-CABE156D9701}" type="presParOf" srcId="{EEBCC283-BA11-45C6-A04A-0F018BDD6297}" destId="{14FAEA80-420A-4DF9-8C71-47C47D8F56E9}" srcOrd="0" destOrd="0" presId="urn:microsoft.com/office/officeart/2005/8/layout/hierarchy1"/>
    <dgm:cxn modelId="{28675178-FA03-48AF-9B11-8BADD381BAAD}" type="presParOf" srcId="{EEBCC283-BA11-45C6-A04A-0F018BDD6297}" destId="{581A08C7-F3DA-450D-A4A2-96E835EA8E24}" srcOrd="1" destOrd="0" presId="urn:microsoft.com/office/officeart/2005/8/layout/hierarchy1"/>
    <dgm:cxn modelId="{88A4F24B-FDC1-443B-9774-60149C5F8C12}" type="presParOf" srcId="{7C88710D-B3A2-4CC0-B117-D9EC087CF0C2}" destId="{4B2266E5-EA19-4DC6-B8EA-B02FF3D06E6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D62890-AE24-410F-A25C-C935AAB78640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9D583-2A69-459C-9637-1929ED43ED31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EB0889-DE8C-4513-A8A6-74CFC69E5371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The Problem (Raw Stats): A +5.0 scoring margin is terrible for a 1-seed, but incredible for a 13-seed. Raw stats lack context. </a:t>
          </a:r>
        </a:p>
      </dsp:txBody>
      <dsp:txXfrm>
        <a:off x="1057183" y="1805"/>
        <a:ext cx="9458416" cy="915310"/>
      </dsp:txXfrm>
    </dsp:sp>
    <dsp:sp modelId="{F189B44B-C525-4CA3-9293-E849B197E953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9B4AD1-DEAC-448B-8192-21267B86BF35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9E80A8-432E-4401-8076-92E359975776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Solution </a:t>
          </a:r>
          <a:r>
            <a:rPr lang="en-US" sz="2200" kern="1200" dirty="0"/>
            <a:t>(Tournament Averages): Calculate the mean metrics for only the teams that made the tournament that specific year. </a:t>
          </a:r>
        </a:p>
      </dsp:txBody>
      <dsp:txXfrm>
        <a:off x="1057183" y="1145944"/>
        <a:ext cx="9458416" cy="915310"/>
      </dsp:txXfrm>
    </dsp:sp>
    <dsp:sp modelId="{F3A6C3D4-5A7D-403D-95E9-E5EE03B2296A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4D2F39-4803-4D5B-9C61-6464EAD35A26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047127-4C9F-4BEC-BFB7-4F7345ACAD4B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Formula: Candidate Stat - Tournament Average = Expectation Gap </a:t>
          </a:r>
        </a:p>
      </dsp:txBody>
      <dsp:txXfrm>
        <a:off x="1057183" y="2290082"/>
        <a:ext cx="9458416" cy="915310"/>
      </dsp:txXfrm>
    </dsp:sp>
    <dsp:sp modelId="{1D986AE3-C9CD-4081-80C5-DB2E38EF62E2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D8ECEC-2B13-4F88-94CB-79B02C4756E9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89134D-D77E-4E4D-846B-CC78830EBE1C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Impact: Allows the model to identify 13-seeds that possess the statistical DNA of a top-tier powerhouse.</a:t>
          </a:r>
        </a:p>
      </dsp:txBody>
      <dsp:txXfrm>
        <a:off x="1057183" y="3434221"/>
        <a:ext cx="9458416" cy="9153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0BDB99-6C13-48A7-95E9-7B8CB19DFC6B}">
      <dsp:nvSpPr>
        <dsp:cNvPr id="0" name=""/>
        <dsp:cNvSpPr/>
      </dsp:nvSpPr>
      <dsp:spPr>
        <a:xfrm>
          <a:off x="0" y="79771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Pool: </a:t>
          </a:r>
          <a:r>
            <a:rPr lang="en-US" sz="2300" kern="1200"/>
            <a:t>Strictly “Cinderella Candidates (seed 10 through 16).</a:t>
          </a:r>
        </a:p>
      </dsp:txBody>
      <dsp:txXfrm>
        <a:off x="44664" y="842383"/>
        <a:ext cx="6577505" cy="825612"/>
      </dsp:txXfrm>
    </dsp:sp>
    <dsp:sp modelId="{92A9DC77-3381-48EE-AE93-2E1D48CAA540}">
      <dsp:nvSpPr>
        <dsp:cNvPr id="0" name=""/>
        <dsp:cNvSpPr/>
      </dsp:nvSpPr>
      <dsp:spPr>
        <a:xfrm>
          <a:off x="0" y="177889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Target: </a:t>
          </a:r>
          <a:r>
            <a:rPr lang="en-US" sz="2300" kern="1200"/>
            <a:t>Reaching the Sweet 16</a:t>
          </a:r>
        </a:p>
      </dsp:txBody>
      <dsp:txXfrm>
        <a:off x="44664" y="1823563"/>
        <a:ext cx="6577505" cy="825612"/>
      </dsp:txXfrm>
    </dsp:sp>
    <dsp:sp modelId="{559BC1A5-774E-4A3B-8B7A-679673BB04D4}">
      <dsp:nvSpPr>
        <dsp:cNvPr id="0" name=""/>
        <dsp:cNvSpPr/>
      </dsp:nvSpPr>
      <dsp:spPr>
        <a:xfrm>
          <a:off x="0" y="276008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Challenge: </a:t>
          </a:r>
          <a:r>
            <a:rPr lang="en-US" sz="2300" kern="1200"/>
            <a:t>Extreme Class Imbalance (Only ~45 true Cinderellas out of 680 candidates = ~6.6%</a:t>
          </a:r>
        </a:p>
      </dsp:txBody>
      <dsp:txXfrm>
        <a:off x="44664" y="2804744"/>
        <a:ext cx="6577505" cy="825612"/>
      </dsp:txXfrm>
    </dsp:sp>
    <dsp:sp modelId="{C4C4BC72-2AE6-416D-8ADF-0220106CB8A8}">
      <dsp:nvSpPr>
        <dsp:cNvPr id="0" name=""/>
        <dsp:cNvSpPr/>
      </dsp:nvSpPr>
      <dsp:spPr>
        <a:xfrm>
          <a:off x="0" y="374126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Metrics: </a:t>
          </a:r>
          <a:r>
            <a:rPr lang="en-US" sz="2300" kern="1200"/>
            <a:t>Precision-Recall AUC (PR-AUC) and F1 Score</a:t>
          </a:r>
        </a:p>
      </dsp:txBody>
      <dsp:txXfrm>
        <a:off x="44664" y="3785924"/>
        <a:ext cx="6577505" cy="8256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11D090-7354-4F4F-8F49-C5CD23AC06F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75567-D77F-4DB4-87F6-FB83F4389902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We proved our hypothesis that unsupervised metrics could improve our supervised upset predictions over a baseline model (guess 50-50 model). </a:t>
          </a:r>
        </a:p>
      </dsp:txBody>
      <dsp:txXfrm>
        <a:off x="398656" y="1088253"/>
        <a:ext cx="2959127" cy="1837317"/>
      </dsp:txXfrm>
    </dsp:sp>
    <dsp:sp modelId="{F76CC354-EC1C-4237-9AF7-E24C401081B9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DCC16-14D9-453E-9DA2-75672FE1E2E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Statistically, Cinderella runs are uncommon and thus difficult to work with due to imbalanced data. </a:t>
          </a:r>
        </a:p>
      </dsp:txBody>
      <dsp:txXfrm>
        <a:off x="4155097" y="1088253"/>
        <a:ext cx="2959127" cy="1837317"/>
      </dsp:txXfrm>
    </dsp:sp>
    <dsp:sp modelId="{14FAEA80-420A-4DF9-8C71-47C47D8F56E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A08C7-F3DA-450D-A4A2-96E835EA8E2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However, by looking at efficiency profiles, ball security, and team consistency, we can find teams that are better teams than their seed might suggest.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21C1-4EF2-6182-0516-C5507165A7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420A7-99B6-93E8-2003-CCE06235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376D-4595-D351-D6AE-2D80DE0D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F155-74E3-5188-F9CD-AC4E287C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6F4B-5152-9DD2-9B22-7D8C0E5D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97646-5585-4ED3-075F-D0F55BA9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53B4-C23D-55DE-6947-6E731C744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A9131-8DFA-8467-34B8-83302BD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66616-CEF1-D4EF-372E-AC260498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7F67-981D-E228-4FDC-77721382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9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23E6-CDA6-F40F-B767-0F4637FD5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2D7E-6E6E-907C-4FF9-AADADA23B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D299D-B41F-B822-EB29-7D384B63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1CDB2-9C4C-481D-19EB-C14CD8D55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3CEDA-1669-4F75-39C1-3C923961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274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3FB1-5DB2-7364-3D4E-92BD4E2D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FB98-9487-B1B9-11AB-27BD646F7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F478E-B159-049D-88DE-D38EBDED9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BDC59-86FA-95AC-8346-93E389C2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7F50B-8875-8433-1D78-3587438A9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39A49-2695-0C8D-D097-830DEC90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34E1-E2D1-14D6-22CB-FC6932AC2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EB33A-C34E-4F66-CE88-7FE085FBD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CC15E-13EB-8C9C-EF89-265E526D5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1256-A58B-D48D-72D3-ECE2A29AC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5082FA-2461-37C1-CC11-717558EBD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8E647-B1D4-56A8-51A1-F2024CEB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425C1E-2811-A157-DCE2-672914D07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6FE74-F5EB-16BB-2721-26A69519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0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0D90-E7C5-9364-3324-DF78814B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F7BE5-6CFA-99E5-1067-71057B5D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3F03D-1EF6-A5D5-D100-9BDFEE66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1C218-569C-EE30-4D29-9EFFB6A9A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41335-01AC-34D5-F70E-3FD5843AB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BAFF8-A93B-F5E4-3F6F-5EB516B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9685-F698-FBDC-5186-11BD28C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872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E855-9FBD-DC93-B6E4-17EDF285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BD58-8BCA-C725-D51B-475F4491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16E58-5605-1241-7D98-EA046EB9E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6A50E-453D-C472-8E9E-F1F86D27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C82C-C611-5CFE-F26E-6849F266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733C3-7980-7AC0-5FE7-139C3992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3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0798-314C-1C53-37D0-FFDB2AE97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D8DBA7-C6CD-ABD9-B3CF-562EE7AF6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B35C1-3F1A-FAC0-37BD-B4F9BF620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14534-8A24-39AE-DC53-D1094EA67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3C2CB-12FC-300F-29AF-7999D13E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E9C5-561E-3FCD-0432-07C67427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56C2-DADB-B6B4-EE58-395B1152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AC6E4-9547-C1B7-0405-49BBCD99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07A5B-BC33-7586-A411-B98E0ADCF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52D70-2EA1-DFEF-B04A-FDA01C9A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E593D-BDD3-C66B-410C-054D286B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4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EF63F-360B-0F89-CBFE-FD66B2EB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0EA93-DE30-BC7A-A0A1-61577795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5DDA1-B384-0C9F-56C7-F7AAA2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C11C3-262D-3CDD-275C-839A9CE35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9B634-D1D5-96C0-8ACB-4EA790C9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1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4DC40-2149-0E43-BD63-EEC628D3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763E6-9833-44FF-F8BB-5156D480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1FE59-AC59-D83C-40A7-F8227941C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1E879-898C-C460-B107-FB0D42BA8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0D30C-BDFC-A338-FDEC-3491FF352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9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march-madness-betting-begins-in-the-united-states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d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basketball-american-basket-ring-9256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486final.streamlit.app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458A8-0FB9-FB01-D730-B8CB98711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9095" r="3224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C09C63-7E99-E03A-7CA0-14EE9E958D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The Cinderella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98DF8-604E-0E74-2782-107FA9FF0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By: Anton, James, Aaron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3BFC9-DF23-E701-1B71-CBC86AA91897}"/>
              </a:ext>
            </a:extLst>
          </p:cNvPr>
          <p:cNvSpPr txBox="1"/>
          <p:nvPr/>
        </p:nvSpPr>
        <p:spPr>
          <a:xfrm>
            <a:off x="9739085" y="6657945"/>
            <a:ext cx="245291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usgamblingsites.com/news/march-madness-betting-begins-in-the-united-state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808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1BD38-C00F-0BFB-A0E6-91E551E64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6236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88B8A-9A0D-C7F1-3E06-5895DC2A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Motivation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A3276-EEE9-7EBB-927F-58238A54F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sz="1400"/>
              <a:t>Motivation:</a:t>
            </a:r>
          </a:p>
          <a:p>
            <a:pPr lvl="1"/>
            <a:r>
              <a:rPr lang="en-US" sz="1400"/>
              <a:t>The Goal: Predict March Madness “Cinderella” Upsets</a:t>
            </a:r>
          </a:p>
          <a:p>
            <a:pPr lvl="1"/>
            <a:r>
              <a:rPr lang="en-US" sz="1400"/>
              <a:t>The Problem: Traditional models typically over-rely on official seeding</a:t>
            </a:r>
          </a:p>
          <a:p>
            <a:pPr lvl="1"/>
            <a:r>
              <a:rPr lang="en-US" sz="1400"/>
              <a:t>The Solution: Focus on a team’s statistical DNA using regular season advanced metrics.</a:t>
            </a:r>
          </a:p>
          <a:p>
            <a:pPr marL="457200" lvl="1" indent="0">
              <a:buNone/>
            </a:pPr>
            <a:endParaRPr lang="en-US" sz="1400"/>
          </a:p>
          <a:p>
            <a:pPr marL="457200" lvl="1" indent="0">
              <a:buNone/>
            </a:pPr>
            <a:r>
              <a:rPr lang="en-US" sz="1400"/>
              <a:t>Hypothesis</a:t>
            </a:r>
          </a:p>
          <a:p>
            <a:pPr marL="457200" lvl="1" indent="0">
              <a:buNone/>
            </a:pPr>
            <a:r>
              <a:rPr lang="en-US" sz="1400"/>
              <a:t>- Integrating unsupervised anomaly scores into supervised classification models will significantly improve the predictive accuracy of NCAA tournament upsets.</a:t>
            </a:r>
          </a:p>
        </p:txBody>
      </p:sp>
    </p:spTree>
    <p:extLst>
      <p:ext uri="{BB962C8B-B14F-4D97-AF65-F5344CB8AC3E}">
        <p14:creationId xmlns:p14="http://schemas.microsoft.com/office/powerpoint/2010/main" val="292375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C4E29-A3D7-967E-0AF1-32EBD5692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The Data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40ECF-6E3C-9D92-886B-684672107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Dataset Origin &amp; Scope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Source: Kaggle 2026 March Madness Competition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Timeline: 1984-1985</a:t>
            </a:r>
          </a:p>
          <a:p>
            <a:pPr lvl="1"/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Target Variable: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CinderellaFlag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Teams with seed &gt;= 10 and tournament wins &gt;= 2.</a:t>
            </a:r>
          </a:p>
          <a:p>
            <a:pPr lvl="1">
              <a:buFontTx/>
              <a:buChar char="-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Key Features: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- Ranking Metrics: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SeedNum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Performance: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WinPct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Efficiency: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AvgScoreDiff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AvgPointsFor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AvgPointsAgainst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MasseyRankMean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3B541-8A14-05DB-3069-A2BBEC401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Reframing the Data (The "Expectation Gap")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1C2950-1D29-A91A-9C26-C1AA25F371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994860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0838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1D725-9251-7DF5-1F23-121F2299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8B44C-9E92-F2E4-97B8-4F7168AD8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Phase 1: Unsupervised Learning</a:t>
            </a:r>
          </a:p>
          <a:p>
            <a:r>
              <a:rPr lang="en-US" dirty="0"/>
              <a:t>Evaluated all division I teams to map out statistical DNA</a:t>
            </a:r>
          </a:p>
          <a:p>
            <a:r>
              <a:rPr lang="en-US" dirty="0"/>
              <a:t>Models Tested: Isolation Forests &amp; Gaussian Mixture Models (GMM)</a:t>
            </a:r>
          </a:p>
          <a:p>
            <a:endParaRPr lang="en-US" dirty="0"/>
          </a:p>
          <a:p>
            <a:r>
              <a:rPr lang="en-US" dirty="0"/>
              <a:t>Phase 2: Supervised Classification</a:t>
            </a:r>
          </a:p>
          <a:p>
            <a:r>
              <a:rPr lang="en-US" dirty="0"/>
              <a:t>Filtered dataset strictly to Cinderella candidates (Seed 10-16, N = 680)</a:t>
            </a:r>
          </a:p>
          <a:p>
            <a:r>
              <a:rPr lang="en-US" dirty="0"/>
              <a:t>Models Tested: Random Forest vs. XGBoost</a:t>
            </a:r>
          </a:p>
        </p:txBody>
      </p:sp>
    </p:spTree>
    <p:extLst>
      <p:ext uri="{BB962C8B-B14F-4D97-AF65-F5344CB8AC3E}">
        <p14:creationId xmlns:p14="http://schemas.microsoft.com/office/powerpoint/2010/main" val="3613872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CC1186-C5B6-DD2B-186D-3627DA2F7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The Prediction Task &amp; The “Small Data” Trap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F4A082-F542-A5F5-8B58-9F2E7A17E6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663968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0781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5105D448-4A6C-48A3-8C3C-71AF58F3E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25579F-C5D8-43BE-AF84-3E66A482C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2544415"/>
          </a:xfrm>
          <a:prstGeom prst="rect">
            <a:avLst/>
          </a:prstGeom>
          <a:ln>
            <a:noFill/>
          </a:ln>
          <a:effectLst>
            <a:outerShdw blurRad="203200" dist="88900" dir="5460000" sx="95000" sy="95000" algn="t" rotWithShape="0">
              <a:srgbClr val="000000">
                <a:alpha val="2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F15F0-1885-B715-08A0-F3B30DBB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63941"/>
            <a:ext cx="9963509" cy="1616529"/>
          </a:xfrm>
        </p:spPr>
        <p:txBody>
          <a:bodyPr>
            <a:normAutofit/>
          </a:bodyPr>
          <a:lstStyle/>
          <a:p>
            <a:r>
              <a:rPr lang="en-US" sz="4000" dirty="0" err="1"/>
              <a:t>XGBoost</a:t>
            </a:r>
            <a:r>
              <a:rPr lang="en-US" sz="4000" dirty="0"/>
              <a:t> Vastly Outperforms Random Forest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B6B5EEB-74CB-A1CF-852E-7FFB07D303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7935123"/>
              </p:ext>
            </p:extLst>
          </p:nvPr>
        </p:nvGraphicFramePr>
        <p:xfrm>
          <a:off x="912185" y="3106763"/>
          <a:ext cx="1037039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394">
                  <a:extLst>
                    <a:ext uri="{9D8B030D-6E8A-4147-A177-3AD203B41FA5}">
                      <a16:colId xmlns:a16="http://schemas.microsoft.com/office/drawing/2014/main" val="636036401"/>
                    </a:ext>
                  </a:extLst>
                </a:gridCol>
                <a:gridCol w="3464560">
                  <a:extLst>
                    <a:ext uri="{9D8B030D-6E8A-4147-A177-3AD203B41FA5}">
                      <a16:colId xmlns:a16="http://schemas.microsoft.com/office/drawing/2014/main" val="3241708511"/>
                    </a:ext>
                  </a:extLst>
                </a:gridCol>
                <a:gridCol w="4605444">
                  <a:extLst>
                    <a:ext uri="{9D8B030D-6E8A-4147-A177-3AD203B41FA5}">
                      <a16:colId xmlns:a16="http://schemas.microsoft.com/office/drawing/2014/main" val="115253145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 b="1"/>
                        <a:t>Metric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Random Forest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Regularized XGBoost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35361290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Recall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24.3%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66.8%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0753624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F1-Score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0.206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0.296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3077656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PR-AUC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0.117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0.157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791251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0332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080E9A-AE19-10B3-5887-57D08461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Decoding the XGBoost Hyperparameters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FED4F-8C6E-4413-691E-6D07DB4A7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sz="2000" dirty="0"/>
              <a:t>Three Key Callouts: </a:t>
            </a:r>
          </a:p>
          <a:p>
            <a:pPr lvl="1"/>
            <a:r>
              <a:rPr lang="en-US" sz="2000" dirty="0"/>
              <a:t>The Imbalance Fix: </a:t>
            </a:r>
            <a:r>
              <a:rPr lang="en-US" sz="2000" dirty="0" err="1"/>
              <a:t>scale_pos_weight</a:t>
            </a:r>
            <a:r>
              <a:rPr lang="en-US" sz="2000" dirty="0"/>
              <a:t>: ~11.3 (Penalizes missed Cinderellas 11x more). </a:t>
            </a:r>
          </a:p>
          <a:p>
            <a:pPr lvl="1"/>
            <a:r>
              <a:rPr lang="en-US" sz="2000" dirty="0"/>
              <a:t>Breaking Reliance: </a:t>
            </a:r>
            <a:r>
              <a:rPr lang="en-US" sz="2000" dirty="0" err="1"/>
              <a:t>colsample_bytree</a:t>
            </a:r>
            <a:r>
              <a:rPr lang="en-US" sz="2000" dirty="0"/>
              <a:t>: 0.5 (Forces the model to look at advanced stats, not just the Seed Number). </a:t>
            </a:r>
          </a:p>
          <a:p>
            <a:pPr lvl="1"/>
            <a:r>
              <a:rPr lang="en-US" sz="2000" dirty="0"/>
              <a:t>Preventing Memorization: </a:t>
            </a:r>
            <a:r>
              <a:rPr lang="en-US" sz="2000" dirty="0" err="1"/>
              <a:t>max_depth</a:t>
            </a:r>
            <a:r>
              <a:rPr lang="en-US" sz="2000" dirty="0"/>
              <a:t>: 2 (Uses shallow "stumps" instead of deep trees to prevent overfitting).</a:t>
            </a:r>
          </a:p>
        </p:txBody>
      </p:sp>
    </p:spTree>
    <p:extLst>
      <p:ext uri="{BB962C8B-B14F-4D97-AF65-F5344CB8AC3E}">
        <p14:creationId xmlns:p14="http://schemas.microsoft.com/office/powerpoint/2010/main" val="333223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1231AA-D68E-5E3E-38D9-A11CFECC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Feature Importance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610FC-C8BD-1B28-5CF1-C94A6C57E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Rank_vs_TourneyAvg</a:t>
            </a:r>
            <a:r>
              <a:rPr lang="en-US" sz="2200" dirty="0"/>
              <a:t> was our top predictor with </a:t>
            </a:r>
            <a:r>
              <a:rPr lang="en-US" sz="2200" dirty="0" err="1"/>
              <a:t>SeedNum</a:t>
            </a:r>
            <a:r>
              <a:rPr lang="en-US" sz="2200" dirty="0"/>
              <a:t> being a close second. Showing that although the teams seed number was low by the tournament committee their underlying Massey Ratings metric mathematically placed them above.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2FCB11-0CC0-1720-5033-8A80D2267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24" y="1165092"/>
            <a:ext cx="6253816" cy="452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167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C119-2DAB-CFB8-E012-BE273491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Unsupervised Anomaly Detection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A9E1D-D4EC-F3E5-1F5E-5B0D5B8AD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789645"/>
            <a:ext cx="4014216" cy="2328245"/>
          </a:xfrm>
          <a:prstGeom prst="rect">
            <a:avLst/>
          </a:pr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2E0E6-1585-7902-E2A7-A0E9BD09C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98" y="4149598"/>
            <a:ext cx="3851012" cy="209880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3496-2146-1B47-AE02-B844407B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US" sz="1700"/>
              <a:t>Hypothesis: Cinderellas would be identified as distinct outliers among other low seeded teams.</a:t>
            </a:r>
          </a:p>
          <a:p>
            <a:endParaRPr lang="en-US" sz="1700"/>
          </a:p>
          <a:p>
            <a:r>
              <a:rPr lang="en-US" sz="1700"/>
              <a:t>Reality: Isolation Forest showed that Cinderellas were mostly statistically normal to other lower ranked seeds and lacked significant variance.</a:t>
            </a:r>
          </a:p>
          <a:p>
            <a:endParaRPr lang="en-US" sz="1700"/>
          </a:p>
          <a:p>
            <a:r>
              <a:rPr lang="en-US" sz="1700"/>
              <a:t>However, the Gaussian Mixed Model (GMM) was able to group teams into 4 distinct archetypes. It successfully grouped 82% of historical Cinderella teams into a high performing archetype (Cluster 2) where many higher ranked teams are. This suggests that they distinct enough to be identified as different from the average lower seed.</a:t>
            </a:r>
          </a:p>
        </p:txBody>
      </p:sp>
    </p:spTree>
    <p:extLst>
      <p:ext uri="{BB962C8B-B14F-4D97-AF65-F5344CB8AC3E}">
        <p14:creationId xmlns:p14="http://schemas.microsoft.com/office/powerpoint/2010/main" val="2149695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32AE-3699-A024-B553-BA2A5FC17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Results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64E96-F4EA-2976-C3B9-4DDF488B5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Ultimately, despite our hypothesis, our XGBoost model still struggled to consistently identify Cinderella teams. </a:t>
            </a:r>
          </a:p>
          <a:p>
            <a:endParaRPr lang="en-US" dirty="0"/>
          </a:p>
          <a:p>
            <a:r>
              <a:rPr lang="en-US" dirty="0"/>
              <a:t>While it performed better than a random guess, it wasn’t drastically better. </a:t>
            </a:r>
          </a:p>
        </p:txBody>
      </p:sp>
    </p:spTree>
    <p:extLst>
      <p:ext uri="{BB962C8B-B14F-4D97-AF65-F5344CB8AC3E}">
        <p14:creationId xmlns:p14="http://schemas.microsoft.com/office/powerpoint/2010/main" val="3745876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214D3-9699-E0E2-8B10-348A820E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0871-4D7A-8150-B00F-8D9A43CE6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u="sng" dirty="0">
                <a:hlinkClick r:id="rId2"/>
              </a:rPr>
              <a:t>https://stat486final.streamlit.app/</a:t>
            </a:r>
            <a:r>
              <a:rPr lang="en-US" u="sng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90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09F6F-DC3E-B1B0-5170-853B3CCC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 and Takeaways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148BF5E-FFD9-8F4D-3995-CFF3BEC66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621426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6550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688</Words>
  <Application>Microsoft Office PowerPoint</Application>
  <PresentationFormat>Widescreen</PresentationFormat>
  <Paragraphs>77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The Cinderella Problem</vt:lpstr>
      <vt:lpstr>Motivation and Hypothesis</vt:lpstr>
      <vt:lpstr>The Data</vt:lpstr>
      <vt:lpstr>Reframing the Data (The "Expectation Gap")</vt:lpstr>
      <vt:lpstr>Methodology</vt:lpstr>
      <vt:lpstr>The Prediction Task &amp; The “Small Data” Trap</vt:lpstr>
      <vt:lpstr>XGBoost Vastly Outperforms Random Forest</vt:lpstr>
      <vt:lpstr>Decoding the XGBoost Hyperparameters</vt:lpstr>
      <vt:lpstr>Feature Importance</vt:lpstr>
      <vt:lpstr>Unsupervised Anomaly Detection </vt:lpstr>
      <vt:lpstr>Model Results &amp; Performance</vt:lpstr>
      <vt:lpstr>Demonstration</vt:lpstr>
      <vt:lpstr>Conclusion and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Klein</dc:creator>
  <cp:lastModifiedBy>Anton Hinckley</cp:lastModifiedBy>
  <cp:revision>8</cp:revision>
  <dcterms:created xsi:type="dcterms:W3CDTF">2026-04-09T04:04:06Z</dcterms:created>
  <dcterms:modified xsi:type="dcterms:W3CDTF">2026-04-09T16:21:29Z</dcterms:modified>
</cp:coreProperties>
</file>