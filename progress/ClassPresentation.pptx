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3" r:id="rId6"/>
    <p:sldId id="260" r:id="rId7"/>
    <p:sldId id="261" r:id="rId8"/>
    <p:sldId id="262" r:id="rId9"/>
    <p:sldId id="264" r:id="rId10"/>
    <p:sldId id="265" r:id="rId1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99" d="100"/>
          <a:sy n="99" d="100"/>
        </p:scale>
        <p:origin x="60" y="1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9A956502-3703-4132-AC03-69BF4A493969}" type="doc">
      <dgm:prSet loTypeId="urn:microsoft.com/office/officeart/2005/8/layout/hierarchy1" loCatId="hierarchy" qsTypeId="urn:microsoft.com/office/officeart/2005/8/quickstyle/simple1" qsCatId="simple" csTypeId="urn:microsoft.com/office/officeart/2005/8/colors/colorful1" csCatId="colorful"/>
      <dgm:spPr/>
      <dgm:t>
        <a:bodyPr/>
        <a:lstStyle/>
        <a:p>
          <a:endParaRPr lang="en-US"/>
        </a:p>
      </dgm:t>
    </dgm:pt>
    <dgm:pt modelId="{C9009838-8A56-4C48-8D68-4AD8D79DF724}">
      <dgm:prSet/>
      <dgm:spPr/>
      <dgm:t>
        <a:bodyPr/>
        <a:lstStyle/>
        <a:p>
          <a:r>
            <a:rPr lang="en-US"/>
            <a:t>We proved our hypothesis that unsupervised metrics could improve our supervised upset predictions over a baseline model (guess 50-50 model). </a:t>
          </a:r>
        </a:p>
      </dgm:t>
    </dgm:pt>
    <dgm:pt modelId="{B68A8A97-53A1-4D21-88EA-5BC5598D398E}" type="parTrans" cxnId="{B6FBF076-F4C4-44C2-A0DA-7AA76CB1202F}">
      <dgm:prSet/>
      <dgm:spPr/>
      <dgm:t>
        <a:bodyPr/>
        <a:lstStyle/>
        <a:p>
          <a:endParaRPr lang="en-US"/>
        </a:p>
      </dgm:t>
    </dgm:pt>
    <dgm:pt modelId="{78D8B892-685E-4781-A8B9-712ED1144157}" type="sibTrans" cxnId="{B6FBF076-F4C4-44C2-A0DA-7AA76CB1202F}">
      <dgm:prSet/>
      <dgm:spPr/>
      <dgm:t>
        <a:bodyPr/>
        <a:lstStyle/>
        <a:p>
          <a:endParaRPr lang="en-US"/>
        </a:p>
      </dgm:t>
    </dgm:pt>
    <dgm:pt modelId="{109213F9-8B9A-457D-9FFB-808957D78B5F}">
      <dgm:prSet/>
      <dgm:spPr/>
      <dgm:t>
        <a:bodyPr/>
        <a:lstStyle/>
        <a:p>
          <a:r>
            <a:rPr lang="en-US"/>
            <a:t>Statistically, Cinderella runs are uncommon and thus difficult to work with due to imbalanced data. </a:t>
          </a:r>
        </a:p>
      </dgm:t>
    </dgm:pt>
    <dgm:pt modelId="{3C61ED98-DEB5-4291-AD23-642F840DF32A}" type="parTrans" cxnId="{BE8156B5-980D-479E-92C2-DE10FCAFB347}">
      <dgm:prSet/>
      <dgm:spPr/>
      <dgm:t>
        <a:bodyPr/>
        <a:lstStyle/>
        <a:p>
          <a:endParaRPr lang="en-US"/>
        </a:p>
      </dgm:t>
    </dgm:pt>
    <dgm:pt modelId="{ABC96685-BD00-4EDD-A4D0-E3DCBEF54363}" type="sibTrans" cxnId="{BE8156B5-980D-479E-92C2-DE10FCAFB347}">
      <dgm:prSet/>
      <dgm:spPr/>
      <dgm:t>
        <a:bodyPr/>
        <a:lstStyle/>
        <a:p>
          <a:endParaRPr lang="en-US"/>
        </a:p>
      </dgm:t>
    </dgm:pt>
    <dgm:pt modelId="{2FB49948-87B9-44DB-AAEB-DA06F8F47BC2}">
      <dgm:prSet/>
      <dgm:spPr/>
      <dgm:t>
        <a:bodyPr/>
        <a:lstStyle/>
        <a:p>
          <a:r>
            <a:rPr lang="en-US"/>
            <a:t>However, by looking at efficiency profiles, ball security, and team consistency, we can find teams that are better teams than their seed might suggest.</a:t>
          </a:r>
        </a:p>
      </dgm:t>
    </dgm:pt>
    <dgm:pt modelId="{7D0F421E-0498-4A7B-9813-7B60A318EF65}" type="parTrans" cxnId="{71BF8781-1204-4E3D-B2B0-BCD19C74A20C}">
      <dgm:prSet/>
      <dgm:spPr/>
      <dgm:t>
        <a:bodyPr/>
        <a:lstStyle/>
        <a:p>
          <a:endParaRPr lang="en-US"/>
        </a:p>
      </dgm:t>
    </dgm:pt>
    <dgm:pt modelId="{D5AC4E4F-E97A-48C8-A764-79F9C9717A54}" type="sibTrans" cxnId="{71BF8781-1204-4E3D-B2B0-BCD19C74A20C}">
      <dgm:prSet/>
      <dgm:spPr/>
      <dgm:t>
        <a:bodyPr/>
        <a:lstStyle/>
        <a:p>
          <a:endParaRPr lang="en-US"/>
        </a:p>
      </dgm:t>
    </dgm:pt>
    <dgm:pt modelId="{ABB376B8-BEB4-4AC4-B6A8-44101DF5D20F}" type="pres">
      <dgm:prSet presAssocID="{9A956502-3703-4132-AC03-69BF4A493969}" presName="hierChild1" presStyleCnt="0">
        <dgm:presLayoutVars>
          <dgm:chPref val="1"/>
          <dgm:dir/>
          <dgm:animOne val="branch"/>
          <dgm:animLvl val="lvl"/>
          <dgm:resizeHandles/>
        </dgm:presLayoutVars>
      </dgm:prSet>
      <dgm:spPr/>
    </dgm:pt>
    <dgm:pt modelId="{6ECC08F2-C111-4885-9897-0D24AA2E0CE3}" type="pres">
      <dgm:prSet presAssocID="{C9009838-8A56-4C48-8D68-4AD8D79DF724}" presName="hierRoot1" presStyleCnt="0"/>
      <dgm:spPr/>
    </dgm:pt>
    <dgm:pt modelId="{AB6DC64C-51C1-4D8B-8DA6-3EA56830112D}" type="pres">
      <dgm:prSet presAssocID="{C9009838-8A56-4C48-8D68-4AD8D79DF724}" presName="composite" presStyleCnt="0"/>
      <dgm:spPr/>
    </dgm:pt>
    <dgm:pt modelId="{EC11D090-7354-4F4F-8F49-C5CD23AC06F8}" type="pres">
      <dgm:prSet presAssocID="{C9009838-8A56-4C48-8D68-4AD8D79DF724}" presName="background" presStyleLbl="node0" presStyleIdx="0" presStyleCnt="3"/>
      <dgm:spPr/>
    </dgm:pt>
    <dgm:pt modelId="{83D75567-D77F-4DB4-87F6-FB83F4389902}" type="pres">
      <dgm:prSet presAssocID="{C9009838-8A56-4C48-8D68-4AD8D79DF724}" presName="text" presStyleLbl="fgAcc0" presStyleIdx="0" presStyleCnt="3">
        <dgm:presLayoutVars>
          <dgm:chPref val="3"/>
        </dgm:presLayoutVars>
      </dgm:prSet>
      <dgm:spPr/>
    </dgm:pt>
    <dgm:pt modelId="{DB7C6BDC-9F00-462B-BC7C-3BDB3A80CA68}" type="pres">
      <dgm:prSet presAssocID="{C9009838-8A56-4C48-8D68-4AD8D79DF724}" presName="hierChild2" presStyleCnt="0"/>
      <dgm:spPr/>
    </dgm:pt>
    <dgm:pt modelId="{47B729FD-76A8-4F5C-A8FF-BCADDD98D2D7}" type="pres">
      <dgm:prSet presAssocID="{109213F9-8B9A-457D-9FFB-808957D78B5F}" presName="hierRoot1" presStyleCnt="0"/>
      <dgm:spPr/>
    </dgm:pt>
    <dgm:pt modelId="{40C9D482-E318-426B-BB60-6ECB5AE2DBFA}" type="pres">
      <dgm:prSet presAssocID="{109213F9-8B9A-457D-9FFB-808957D78B5F}" presName="composite" presStyleCnt="0"/>
      <dgm:spPr/>
    </dgm:pt>
    <dgm:pt modelId="{F76CC354-EC1C-4237-9AF7-E24C401081B9}" type="pres">
      <dgm:prSet presAssocID="{109213F9-8B9A-457D-9FFB-808957D78B5F}" presName="background" presStyleLbl="node0" presStyleIdx="1" presStyleCnt="3"/>
      <dgm:spPr/>
    </dgm:pt>
    <dgm:pt modelId="{7B0DCC16-14D9-453E-9DA2-75672FE1E2EF}" type="pres">
      <dgm:prSet presAssocID="{109213F9-8B9A-457D-9FFB-808957D78B5F}" presName="text" presStyleLbl="fgAcc0" presStyleIdx="1" presStyleCnt="3">
        <dgm:presLayoutVars>
          <dgm:chPref val="3"/>
        </dgm:presLayoutVars>
      </dgm:prSet>
      <dgm:spPr/>
    </dgm:pt>
    <dgm:pt modelId="{D2912189-F0C6-484B-B55F-AA8B6C73CAA4}" type="pres">
      <dgm:prSet presAssocID="{109213F9-8B9A-457D-9FFB-808957D78B5F}" presName="hierChild2" presStyleCnt="0"/>
      <dgm:spPr/>
    </dgm:pt>
    <dgm:pt modelId="{7C88710D-B3A2-4CC0-B117-D9EC087CF0C2}" type="pres">
      <dgm:prSet presAssocID="{2FB49948-87B9-44DB-AAEB-DA06F8F47BC2}" presName="hierRoot1" presStyleCnt="0"/>
      <dgm:spPr/>
    </dgm:pt>
    <dgm:pt modelId="{EEBCC283-BA11-45C6-A04A-0F018BDD6297}" type="pres">
      <dgm:prSet presAssocID="{2FB49948-87B9-44DB-AAEB-DA06F8F47BC2}" presName="composite" presStyleCnt="0"/>
      <dgm:spPr/>
    </dgm:pt>
    <dgm:pt modelId="{14FAEA80-420A-4DF9-8C71-47C47D8F56E9}" type="pres">
      <dgm:prSet presAssocID="{2FB49948-87B9-44DB-AAEB-DA06F8F47BC2}" presName="background" presStyleLbl="node0" presStyleIdx="2" presStyleCnt="3"/>
      <dgm:spPr/>
    </dgm:pt>
    <dgm:pt modelId="{581A08C7-F3DA-450D-A4A2-96E835EA8E24}" type="pres">
      <dgm:prSet presAssocID="{2FB49948-87B9-44DB-AAEB-DA06F8F47BC2}" presName="text" presStyleLbl="fgAcc0" presStyleIdx="2" presStyleCnt="3">
        <dgm:presLayoutVars>
          <dgm:chPref val="3"/>
        </dgm:presLayoutVars>
      </dgm:prSet>
      <dgm:spPr/>
    </dgm:pt>
    <dgm:pt modelId="{4B2266E5-EA19-4DC6-B8EA-B02FF3D06E67}" type="pres">
      <dgm:prSet presAssocID="{2FB49948-87B9-44DB-AAEB-DA06F8F47BC2}" presName="hierChild2" presStyleCnt="0"/>
      <dgm:spPr/>
    </dgm:pt>
  </dgm:ptLst>
  <dgm:cxnLst>
    <dgm:cxn modelId="{742B2D0D-FA11-49BD-AFB7-D4848993CF24}" type="presOf" srcId="{109213F9-8B9A-457D-9FFB-808957D78B5F}" destId="{7B0DCC16-14D9-453E-9DA2-75672FE1E2EF}" srcOrd="0" destOrd="0" presId="urn:microsoft.com/office/officeart/2005/8/layout/hierarchy1"/>
    <dgm:cxn modelId="{BD2D6E62-2716-4F5E-9774-BAC8421648B9}" type="presOf" srcId="{C9009838-8A56-4C48-8D68-4AD8D79DF724}" destId="{83D75567-D77F-4DB4-87F6-FB83F4389902}" srcOrd="0" destOrd="0" presId="urn:microsoft.com/office/officeart/2005/8/layout/hierarchy1"/>
    <dgm:cxn modelId="{B6FBF076-F4C4-44C2-A0DA-7AA76CB1202F}" srcId="{9A956502-3703-4132-AC03-69BF4A493969}" destId="{C9009838-8A56-4C48-8D68-4AD8D79DF724}" srcOrd="0" destOrd="0" parTransId="{B68A8A97-53A1-4D21-88EA-5BC5598D398E}" sibTransId="{78D8B892-685E-4781-A8B9-712ED1144157}"/>
    <dgm:cxn modelId="{71BF8781-1204-4E3D-B2B0-BCD19C74A20C}" srcId="{9A956502-3703-4132-AC03-69BF4A493969}" destId="{2FB49948-87B9-44DB-AAEB-DA06F8F47BC2}" srcOrd="2" destOrd="0" parTransId="{7D0F421E-0498-4A7B-9813-7B60A318EF65}" sibTransId="{D5AC4E4F-E97A-48C8-A764-79F9C9717A54}"/>
    <dgm:cxn modelId="{F470EE93-5581-4209-ABD0-5511B51915D5}" type="presOf" srcId="{9A956502-3703-4132-AC03-69BF4A493969}" destId="{ABB376B8-BEB4-4AC4-B6A8-44101DF5D20F}" srcOrd="0" destOrd="0" presId="urn:microsoft.com/office/officeart/2005/8/layout/hierarchy1"/>
    <dgm:cxn modelId="{BE8156B5-980D-479E-92C2-DE10FCAFB347}" srcId="{9A956502-3703-4132-AC03-69BF4A493969}" destId="{109213F9-8B9A-457D-9FFB-808957D78B5F}" srcOrd="1" destOrd="0" parTransId="{3C61ED98-DEB5-4291-AD23-642F840DF32A}" sibTransId="{ABC96685-BD00-4EDD-A4D0-E3DCBEF54363}"/>
    <dgm:cxn modelId="{8B31FEDB-C666-4549-A8DD-7DFBAF5CEA45}" type="presOf" srcId="{2FB49948-87B9-44DB-AAEB-DA06F8F47BC2}" destId="{581A08C7-F3DA-450D-A4A2-96E835EA8E24}" srcOrd="0" destOrd="0" presId="urn:microsoft.com/office/officeart/2005/8/layout/hierarchy1"/>
    <dgm:cxn modelId="{36A7A178-1634-4195-9342-C717722CEFD2}" type="presParOf" srcId="{ABB376B8-BEB4-4AC4-B6A8-44101DF5D20F}" destId="{6ECC08F2-C111-4885-9897-0D24AA2E0CE3}" srcOrd="0" destOrd="0" presId="urn:microsoft.com/office/officeart/2005/8/layout/hierarchy1"/>
    <dgm:cxn modelId="{7B59CBEA-DC39-4C2B-A5C0-1285E9888A7A}" type="presParOf" srcId="{6ECC08F2-C111-4885-9897-0D24AA2E0CE3}" destId="{AB6DC64C-51C1-4D8B-8DA6-3EA56830112D}" srcOrd="0" destOrd="0" presId="urn:microsoft.com/office/officeart/2005/8/layout/hierarchy1"/>
    <dgm:cxn modelId="{3DC503BA-DAC4-4844-823D-4FCE5426BCA8}" type="presParOf" srcId="{AB6DC64C-51C1-4D8B-8DA6-3EA56830112D}" destId="{EC11D090-7354-4F4F-8F49-C5CD23AC06F8}" srcOrd="0" destOrd="0" presId="urn:microsoft.com/office/officeart/2005/8/layout/hierarchy1"/>
    <dgm:cxn modelId="{F12AD088-4EA4-463C-A33B-D2879228B245}" type="presParOf" srcId="{AB6DC64C-51C1-4D8B-8DA6-3EA56830112D}" destId="{83D75567-D77F-4DB4-87F6-FB83F4389902}" srcOrd="1" destOrd="0" presId="urn:microsoft.com/office/officeart/2005/8/layout/hierarchy1"/>
    <dgm:cxn modelId="{3A27ABA7-7C72-4679-83BB-C818DC40BF43}" type="presParOf" srcId="{6ECC08F2-C111-4885-9897-0D24AA2E0CE3}" destId="{DB7C6BDC-9F00-462B-BC7C-3BDB3A80CA68}" srcOrd="1" destOrd="0" presId="urn:microsoft.com/office/officeart/2005/8/layout/hierarchy1"/>
    <dgm:cxn modelId="{CDA2AB2C-63CA-40B9-A5DA-C64B64803105}" type="presParOf" srcId="{ABB376B8-BEB4-4AC4-B6A8-44101DF5D20F}" destId="{47B729FD-76A8-4F5C-A8FF-BCADDD98D2D7}" srcOrd="1" destOrd="0" presId="urn:microsoft.com/office/officeart/2005/8/layout/hierarchy1"/>
    <dgm:cxn modelId="{ED01DA84-5D7D-41B3-9C08-F667D513A6B9}" type="presParOf" srcId="{47B729FD-76A8-4F5C-A8FF-BCADDD98D2D7}" destId="{40C9D482-E318-426B-BB60-6ECB5AE2DBFA}" srcOrd="0" destOrd="0" presId="urn:microsoft.com/office/officeart/2005/8/layout/hierarchy1"/>
    <dgm:cxn modelId="{8DCD5344-5556-4E78-947D-B5087470442C}" type="presParOf" srcId="{40C9D482-E318-426B-BB60-6ECB5AE2DBFA}" destId="{F76CC354-EC1C-4237-9AF7-E24C401081B9}" srcOrd="0" destOrd="0" presId="urn:microsoft.com/office/officeart/2005/8/layout/hierarchy1"/>
    <dgm:cxn modelId="{02D7FC1C-4EB6-4F5C-8717-16C0BD3ACDA0}" type="presParOf" srcId="{40C9D482-E318-426B-BB60-6ECB5AE2DBFA}" destId="{7B0DCC16-14D9-453E-9DA2-75672FE1E2EF}" srcOrd="1" destOrd="0" presId="urn:microsoft.com/office/officeart/2005/8/layout/hierarchy1"/>
    <dgm:cxn modelId="{5DB0650D-38E7-4885-B547-74B7468F8E3D}" type="presParOf" srcId="{47B729FD-76A8-4F5C-A8FF-BCADDD98D2D7}" destId="{D2912189-F0C6-484B-B55F-AA8B6C73CAA4}" srcOrd="1" destOrd="0" presId="urn:microsoft.com/office/officeart/2005/8/layout/hierarchy1"/>
    <dgm:cxn modelId="{BFEF920B-3EB6-483C-B8C6-A0A114D5698C}" type="presParOf" srcId="{ABB376B8-BEB4-4AC4-B6A8-44101DF5D20F}" destId="{7C88710D-B3A2-4CC0-B117-D9EC087CF0C2}" srcOrd="2" destOrd="0" presId="urn:microsoft.com/office/officeart/2005/8/layout/hierarchy1"/>
    <dgm:cxn modelId="{1EC57B49-41DA-44C7-A7E4-9B484D6F45E4}" type="presParOf" srcId="{7C88710D-B3A2-4CC0-B117-D9EC087CF0C2}" destId="{EEBCC283-BA11-45C6-A04A-0F018BDD6297}" srcOrd="0" destOrd="0" presId="urn:microsoft.com/office/officeart/2005/8/layout/hierarchy1"/>
    <dgm:cxn modelId="{03A3532D-E5C9-4CA4-9E57-CABE156D9701}" type="presParOf" srcId="{EEBCC283-BA11-45C6-A04A-0F018BDD6297}" destId="{14FAEA80-420A-4DF9-8C71-47C47D8F56E9}" srcOrd="0" destOrd="0" presId="urn:microsoft.com/office/officeart/2005/8/layout/hierarchy1"/>
    <dgm:cxn modelId="{28675178-FA03-48AF-9B11-8BADD381BAAD}" type="presParOf" srcId="{EEBCC283-BA11-45C6-A04A-0F018BDD6297}" destId="{581A08C7-F3DA-450D-A4A2-96E835EA8E24}" srcOrd="1" destOrd="0" presId="urn:microsoft.com/office/officeart/2005/8/layout/hierarchy1"/>
    <dgm:cxn modelId="{88A4F24B-FDC1-443B-9774-60149C5F8C12}" type="presParOf" srcId="{7C88710D-B3A2-4CC0-B117-D9EC087CF0C2}" destId="{4B2266E5-EA19-4DC6-B8EA-B02FF3D06E67}" srcOrd="1" destOrd="0" presId="urn:microsoft.com/office/officeart/2005/8/layout/hierarchy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EC11D090-7354-4F4F-8F49-C5CD23AC06F8}">
      <dsp:nvSpPr>
        <dsp:cNvPr id="0" name=""/>
        <dsp:cNvSpPr/>
      </dsp:nvSpPr>
      <dsp:spPr>
        <a:xfrm>
          <a:off x="0" y="706671"/>
          <a:ext cx="3073451" cy="1951641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83D75567-D77F-4DB4-87F6-FB83F4389902}">
      <dsp:nvSpPr>
        <dsp:cNvPr id="0" name=""/>
        <dsp:cNvSpPr/>
      </dsp:nvSpPr>
      <dsp:spPr>
        <a:xfrm>
          <a:off x="341494" y="1031091"/>
          <a:ext cx="3073451" cy="1951641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4770" tIns="64770" rIns="64770" bIns="64770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/>
            <a:t>We proved our hypothesis that unsupervised metrics could improve our supervised upset predictions over a baseline model (guess 50-50 model). </a:t>
          </a:r>
        </a:p>
      </dsp:txBody>
      <dsp:txXfrm>
        <a:off x="398656" y="1088253"/>
        <a:ext cx="2959127" cy="1837317"/>
      </dsp:txXfrm>
    </dsp:sp>
    <dsp:sp modelId="{F76CC354-EC1C-4237-9AF7-E24C401081B9}">
      <dsp:nvSpPr>
        <dsp:cNvPr id="0" name=""/>
        <dsp:cNvSpPr/>
      </dsp:nvSpPr>
      <dsp:spPr>
        <a:xfrm>
          <a:off x="3756441" y="706671"/>
          <a:ext cx="3073451" cy="1951641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7B0DCC16-14D9-453E-9DA2-75672FE1E2EF}">
      <dsp:nvSpPr>
        <dsp:cNvPr id="0" name=""/>
        <dsp:cNvSpPr/>
      </dsp:nvSpPr>
      <dsp:spPr>
        <a:xfrm>
          <a:off x="4097935" y="1031091"/>
          <a:ext cx="3073451" cy="1951641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4770" tIns="64770" rIns="64770" bIns="64770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/>
            <a:t>Statistically, Cinderella runs are uncommon and thus difficult to work with due to imbalanced data. </a:t>
          </a:r>
        </a:p>
      </dsp:txBody>
      <dsp:txXfrm>
        <a:off x="4155097" y="1088253"/>
        <a:ext cx="2959127" cy="1837317"/>
      </dsp:txXfrm>
    </dsp:sp>
    <dsp:sp modelId="{14FAEA80-420A-4DF9-8C71-47C47D8F56E9}">
      <dsp:nvSpPr>
        <dsp:cNvPr id="0" name=""/>
        <dsp:cNvSpPr/>
      </dsp:nvSpPr>
      <dsp:spPr>
        <a:xfrm>
          <a:off x="7512882" y="706671"/>
          <a:ext cx="3073451" cy="1951641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581A08C7-F3DA-450D-A4A2-96E835EA8E24}">
      <dsp:nvSpPr>
        <dsp:cNvPr id="0" name=""/>
        <dsp:cNvSpPr/>
      </dsp:nvSpPr>
      <dsp:spPr>
        <a:xfrm>
          <a:off x="7854377" y="1031091"/>
          <a:ext cx="3073451" cy="1951641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4770" tIns="64770" rIns="64770" bIns="64770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/>
            <a:t>However, by looking at efficiency profiles, ball security, and team consistency, we can find teams that are better teams than their seed might suggest.</a:t>
          </a:r>
        </a:p>
      </dsp:txBody>
      <dsp:txXfrm>
        <a:off x="7911539" y="1088253"/>
        <a:ext cx="2959127" cy="1837317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hierarchy1">
  <dgm:title val=""/>
  <dgm:desc val=""/>
  <dgm:catLst>
    <dgm:cat type="hierarchy" pri="2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</dgm:ptLst>
      <dgm:cxnLst>
        <dgm:cxn modelId="4" srcId="0" destId="1" srcOrd="0" destOrd="0"/>
        <dgm:cxn modelId="5" srcId="1" destId="2" srcOrd="0" destOrd="0"/>
        <dgm:cxn modelId="6" srcId="1" destId="3" srcOrd="1" destOrd="0"/>
        <dgm:cxn modelId="23" srcId="2" destId="21" srcOrd="0" destOrd="0"/>
        <dgm:cxn modelId="24" srcId="2" destId="22" srcOrd="1" destOrd="0"/>
        <dgm:cxn modelId="33" srcId="3" destId="31" srcOrd="0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12"/>
      </dgm:ptLst>
      <dgm:cxnLst>
        <dgm:cxn modelId="2" srcId="0" destId="1" srcOrd="0" destOrd="0"/>
        <dgm:cxn modelId="13" srcId="1" destId="11" srcOrd="0" destOrd="0"/>
        <dgm:cxn modelId="14" srcId="1" destId="1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21"/>
        <dgm:pt modelId="211"/>
        <dgm:pt modelId="3"/>
        <dgm:pt modelId="31"/>
        <dgm:pt modelId="311"/>
      </dgm:ptLst>
      <dgm:cxnLst>
        <dgm:cxn modelId="4" srcId="0" destId="1" srcOrd="0" destOrd="0"/>
        <dgm:cxn modelId="5" srcId="1" destId="2" srcOrd="0" destOrd="0"/>
        <dgm:cxn modelId="6" srcId="1" destId="3" srcOrd="1" destOrd="0"/>
        <dgm:cxn modelId="23" srcId="2" destId="21" srcOrd="0" destOrd="0"/>
        <dgm:cxn modelId="24" srcId="21" destId="211" srcOrd="0" destOrd="0"/>
        <dgm:cxn modelId="33" srcId="3" destId="31" srcOrd="0" destOrd="0"/>
        <dgm:cxn modelId="34" srcId="31" destId="311" srcOrd="0" destOrd="0"/>
      </dgm:cxnLst>
      <dgm:bg/>
      <dgm:whole/>
    </dgm:dataModel>
  </dgm:clrData>
  <dgm:layoutNode name="hierChild1">
    <dgm:varLst>
      <dgm:chPref val="1"/>
      <dgm:dir/>
      <dgm:animOne val="branch"/>
      <dgm:animLvl val="lvl"/>
      <dgm:resizeHandles/>
    </dgm:varLst>
    <dgm:choose name="Name0">
      <dgm:if name="Name1" func="var" arg="dir" op="equ" val="norm">
        <dgm:alg type="hierChild">
          <dgm:param type="linDir" val="fromL"/>
        </dgm:alg>
      </dgm:if>
      <dgm:else name="Name2">
        <dgm:alg type="hierChild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primFontSz" for="des" ptType="node" op="equ" val="65"/>
      <dgm:constr type="w" for="des" forName="composite" refType="w"/>
      <dgm:constr type="h" for="des" forName="composite" refType="w" refFor="des" refForName="composite" fact="0.667"/>
      <dgm:constr type="w" for="des" forName="composite2" refType="w" refFor="des" refForName="composite"/>
      <dgm:constr type="h" for="des" forName="composite2" refType="h" refFor="des" refForName="composite"/>
      <dgm:constr type="w" for="des" forName="composite3" refType="w" refFor="des" refForName="composite"/>
      <dgm:constr type="h" for="des" forName="composite3" refType="h" refFor="des" refForName="composite"/>
      <dgm:constr type="w" for="des" forName="composite4" refType="w" refFor="des" refForName="composite"/>
      <dgm:constr type="h" for="des" forName="composite4" refType="h" refFor="des" refForName="composite"/>
      <dgm:constr type="w" for="des" forName="composite5" refType="w" refFor="des" refForName="composite"/>
      <dgm:constr type="h" for="des" forName="composite5" refType="h" refFor="des" refForName="composite"/>
      <dgm:constr type="sibSp" refType="w" refFor="des" refForName="composite" fact="0.1"/>
      <dgm:constr type="sibSp" for="des" forName="hierChild2" refType="sibSp"/>
      <dgm:constr type="sibSp" for="des" forName="hierChild3" refType="sibSp"/>
      <dgm:constr type="sibSp" for="des" forName="hierChild4" refType="sibSp"/>
      <dgm:constr type="sibSp" for="des" forName="hierChild5" refType="sibSp"/>
      <dgm:constr type="sibSp" for="des" forName="hierChild6" refType="sibSp"/>
      <dgm:constr type="sp" for="des" forName="hierRoot1" refType="h" refFor="des" refForName="composite" fact="0.25"/>
      <dgm:constr type="sp" for="des" forName="hierRoot2" refType="sp" refFor="des" refForName="hierRoot1"/>
      <dgm:constr type="sp" for="des" forName="hierRoot3" refType="sp" refFor="des" refForName="hierRoot1"/>
      <dgm:constr type="sp" for="des" forName="hierRoot4" refType="sp" refFor="des" refForName="hierRoot1"/>
      <dgm:constr type="sp" for="des" forName="hierRoot5" refType="sp" refFor="des" refForName="hierRoot1"/>
    </dgm:constrLst>
    <dgm:ruleLst/>
    <dgm:forEach name="Name3" axis="ch">
      <dgm:forEach name="Name4" axis="self" ptType="node">
        <dgm:layoutNode name="hierRoot1">
          <dgm:alg type="hierRoot"/>
          <dgm:shape xmlns:r="http://schemas.openxmlformats.org/officeDocument/2006/relationships" r:blip="">
            <dgm:adjLst/>
          </dgm:shape>
          <dgm:presOf/>
          <dgm:constrLst>
            <dgm:constr type="bendDist" for="des" ptType="parTrans" refType="sp" fact="0.5"/>
          </dgm:constrLst>
          <dgm:ruleLst/>
          <dgm:layoutNode name="composite">
            <dgm:alg type="composite"/>
            <dgm:shape xmlns:r="http://schemas.openxmlformats.org/officeDocument/2006/relationships" r:blip="">
              <dgm:adjLst/>
            </dgm:shape>
            <dgm:presOf/>
            <dgm:constrLst>
              <dgm:constr type="w" for="ch" forName="background" refType="w" fact="0.9"/>
              <dgm:constr type="h" for="ch" forName="background" refType="w" refFor="ch" refForName="background" fact="0.635"/>
              <dgm:constr type="t" for="ch" forName="background"/>
              <dgm:constr type="l" for="ch" forName="background"/>
              <dgm:constr type="w" for="ch" forName="text" refType="w" fact="0.9"/>
              <dgm:constr type="h" for="ch" forName="text" refType="w" refFor="ch" refForName="text" fact="0.635"/>
              <dgm:constr type="t" for="ch" forName="text" refType="w" fact="0.095"/>
              <dgm:constr type="l" for="ch" forName="text" refType="w" fact="0.1"/>
            </dgm:constrLst>
            <dgm:ruleLst/>
            <dgm:layoutNode name="background" styleLbl="node0" moveWith="text">
              <dgm:alg type="sp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/>
              <dgm:constrLst/>
              <dgm:ruleLst/>
            </dgm:layoutNode>
            <dgm:layoutNode name="text" styleLbl="fgAcc0">
              <dgm:varLst>
                <dgm:chPref val="3"/>
              </dgm:varLst>
              <dgm:alg type="tx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 axis="self"/>
              <dgm:constrLst>
                <dgm:constr type="tMarg" refType="primFontSz" fact="0.3"/>
                <dgm:constr type="bMarg" refType="primFontSz" fact="0.3"/>
                <dgm:constr type="lMarg" refType="primFontSz" fact="0.3"/>
                <dgm:constr type="rMarg" refType="primFontSz" fact="0.3"/>
              </dgm:constrLst>
              <dgm:ruleLst>
                <dgm:rule type="primFontSz" val="5" fact="NaN" max="NaN"/>
              </dgm:ruleLst>
            </dgm:layoutNode>
          </dgm:layoutNode>
          <dgm:layoutNode name="hierChild2">
            <dgm:choose name="Name5">
              <dgm:if name="Name6" func="var" arg="dir" op="equ" val="norm">
                <dgm:alg type="hierChild">
                  <dgm:param type="linDir" val="fromL"/>
                </dgm:alg>
              </dgm:if>
              <dgm:else name="Name7">
                <dgm:alg type="hierChild">
                  <dgm:param type="linDir" val="fromR"/>
                </dgm:alg>
              </dgm:else>
            </dgm:choose>
            <dgm:shape xmlns:r="http://schemas.openxmlformats.org/officeDocument/2006/relationships" r:blip="">
              <dgm:adjLst/>
            </dgm:shape>
            <dgm:presOf/>
            <dgm:constrLst/>
            <dgm:ruleLst/>
            <dgm:forEach name="Name8" axis="ch">
              <dgm:forEach name="Name9" axis="self" ptType="parTrans" cnt="1">
                <dgm:layoutNode name="Name10">
                  <dgm:alg type="conn">
                    <dgm:param type="dim" val="1D"/>
                    <dgm:param type="endSty" val="noArr"/>
                    <dgm:param type="connRout" val="bend"/>
                    <dgm:param type="bendPt" val="end"/>
                    <dgm:param type="begPts" val="bCtr"/>
                    <dgm:param type="endPts" val="tCtr"/>
                    <dgm:param type="srcNode" val="background"/>
                    <dgm:param type="dstNode" val="background2"/>
                  </dgm:alg>
                  <dgm:shape xmlns:r="http://schemas.openxmlformats.org/officeDocument/2006/relationships" type="conn" r:blip="" zOrderOff="-999">
                    <dgm:adjLst/>
                  </dgm:shape>
                  <dgm:presOf axis="self"/>
                  <dgm:constrLst>
                    <dgm:constr type="begPad"/>
                    <dgm:constr type="endPad"/>
                  </dgm:constrLst>
                  <dgm:ruleLst/>
                </dgm:layoutNode>
              </dgm:forEach>
              <dgm:forEach name="Name11" axis="self" ptType="node">
                <dgm:layoutNode name="hierRoot2">
                  <dgm:alg type="hierRoot"/>
                  <dgm:shape xmlns:r="http://schemas.openxmlformats.org/officeDocument/2006/relationships" r:blip="">
                    <dgm:adjLst/>
                  </dgm:shape>
                  <dgm:presOf/>
                  <dgm:constrLst>
                    <dgm:constr type="bendDist" for="des" ptType="parTrans" refType="sp" fact="0.5"/>
                  </dgm:constrLst>
                  <dgm:ruleLst/>
                  <dgm:layoutNode name="composite2">
                    <dgm:alg type="composite"/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w" for="ch" forName="background2" refType="w" fact="0.9"/>
                      <dgm:constr type="h" for="ch" forName="background2" refType="w" refFor="ch" refForName="background2" fact="0.635"/>
                      <dgm:constr type="t" for="ch" forName="background2"/>
                      <dgm:constr type="l" for="ch" forName="background2"/>
                      <dgm:constr type="w" for="ch" forName="text2" refType="w" fact="0.9"/>
                      <dgm:constr type="h" for="ch" forName="text2" refType="w" refFor="ch" refForName="text2" fact="0.635"/>
                      <dgm:constr type="t" for="ch" forName="text2" refType="w" fact="0.095"/>
                      <dgm:constr type="l" for="ch" forName="text2" refType="w" fact="0.1"/>
                    </dgm:constrLst>
                    <dgm:ruleLst/>
                    <dgm:layoutNode name="background2" moveWith="text2">
                      <dgm:alg type="sp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/>
                      <dgm:constrLst/>
                      <dgm:ruleLst/>
                    </dgm:layoutNode>
                    <dgm:layoutNode name="text2" styleLbl="fgAcc2">
                      <dgm:varLst>
                        <dgm:chPref val="3"/>
                      </dgm:varLst>
                      <dgm:alg type="tx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self"/>
                      <dgm:constrLst>
                        <dgm:constr type="tMarg" refType="primFontSz" fact="0.3"/>
                        <dgm:constr type="bMarg" refType="primFontSz" fact="0.3"/>
                        <dgm:constr type="lMarg" refType="primFontSz" fact="0.3"/>
                        <dgm:constr type="r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</dgm:layoutNode>
                  <dgm:layoutNode name="hierChild3">
                    <dgm:choose name="Name12">
                      <dgm:if name="Name13" func="var" arg="dir" op="equ" val="norm">
                        <dgm:alg type="hierChild">
                          <dgm:param type="linDir" val="fromL"/>
                        </dgm:alg>
                      </dgm:if>
                      <dgm:else name="Name14">
                        <dgm:alg type="hierChild">
                          <dgm:param type="linDir" val="fromR"/>
                        </dgm:alg>
                      </dgm:else>
                    </dgm:choose>
                    <dgm:shape xmlns:r="http://schemas.openxmlformats.org/officeDocument/2006/relationships" r:blip="">
                      <dgm:adjLst/>
                    </dgm:shape>
                    <dgm:presOf/>
                    <dgm:constrLst/>
                    <dgm:ruleLst/>
                    <dgm:forEach name="Name15" axis="ch">
                      <dgm:forEach name="Name16" axis="self" ptType="parTrans" cnt="1">
                        <dgm:layoutNode name="Name17">
                          <dgm:alg type="conn">
                            <dgm:param type="dim" val="1D"/>
                            <dgm:param type="endSty" val="noArr"/>
                            <dgm:param type="connRout" val="bend"/>
                            <dgm:param type="bendPt" val="end"/>
                            <dgm:param type="begPts" val="bCtr"/>
                            <dgm:param type="endPts" val="tCtr"/>
                            <dgm:param type="srcNode" val="background2"/>
                            <dgm:param type="dstNode" val="background3"/>
                          </dgm:alg>
                          <dgm:shape xmlns:r="http://schemas.openxmlformats.org/officeDocument/2006/relationships" type="conn" r:blip="" zOrderOff="-999">
                            <dgm:adjLst/>
                          </dgm:shape>
                          <dgm:presOf axis="self"/>
                          <dgm:constrLst>
                            <dgm:constr type="begPad"/>
                            <dgm:constr type="endPad"/>
                          </dgm:constrLst>
                          <dgm:ruleLst/>
                        </dgm:layoutNode>
                      </dgm:forEach>
                      <dgm:forEach name="Name18" axis="self" ptType="node">
                        <dgm:layoutNode name="hierRoot3">
                          <dgm:alg type="hierRoot"/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constrLst>
                            <dgm:constr type="bendDist" for="des" ptType="parTrans" refType="sp" fact="0.5"/>
                          </dgm:constrLst>
                          <dgm:ruleLst/>
                          <dgm:layoutNode name="composite3">
                            <dgm:alg type="composite"/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  <dgm:constrLst>
                              <dgm:constr type="w" for="ch" forName="background3" refType="w" fact="0.9"/>
                              <dgm:constr type="h" for="ch" forName="background3" refType="w" refFor="ch" refForName="background3" fact="0.635"/>
                              <dgm:constr type="t" for="ch" forName="background3"/>
                              <dgm:constr type="l" for="ch" forName="background3"/>
                              <dgm:constr type="w" for="ch" forName="text3" refType="w" fact="0.9"/>
                              <dgm:constr type="h" for="ch" forName="text3" refType="w" refFor="ch" refForName="text3" fact="0.635"/>
                              <dgm:constr type="t" for="ch" forName="text3" refType="w" fact="0.095"/>
                              <dgm:constr type="l" for="ch" forName="text3" refType="w" fact="0.1"/>
                            </dgm:constrLst>
                            <dgm:ruleLst/>
                            <dgm:layoutNode name="background3" moveWith="text3">
                              <dgm:alg type="sp"/>
                              <dgm:shape xmlns:r="http://schemas.openxmlformats.org/officeDocument/2006/relationships" type="roundRect" r:blip="">
                                <dgm:adjLst>
                                  <dgm:adj idx="1" val="0.1"/>
                                </dgm:adjLst>
                              </dgm:shape>
                              <dgm:presOf/>
                              <dgm:constrLst/>
                              <dgm:ruleLst/>
                            </dgm:layoutNode>
                            <dgm:layoutNode name="text3" styleLbl="fgAcc3">
                              <dgm:varLst>
                                <dgm:chPref val="3"/>
                              </dgm:varLst>
                              <dgm:alg type="tx"/>
                              <dgm:shape xmlns:r="http://schemas.openxmlformats.org/officeDocument/2006/relationships" type="roundRect" r:blip="">
                                <dgm:adjLst>
                                  <dgm:adj idx="1" val="0.1"/>
                                </dgm:adjLst>
                              </dgm:shape>
                              <dgm:presOf axis="self"/>
                              <dgm:constrLst>
                                <dgm:constr type="tMarg" refType="primFontSz" fact="0.3"/>
                                <dgm:constr type="bMarg" refType="primFontSz" fact="0.3"/>
                                <dgm:constr type="lMarg" refType="primFontSz" fact="0.3"/>
                                <dgm:constr type="rMarg" refType="primFontSz" fact="0.3"/>
                              </dgm:constrLst>
                              <dgm:ruleLst>
                                <dgm:rule type="primFontSz" val="5" fact="NaN" max="NaN"/>
                              </dgm:ruleLst>
                            </dgm:layoutNode>
                          </dgm:layoutNode>
                          <dgm:layoutNode name="hierChild4">
                            <dgm:choose name="Name19">
                              <dgm:if name="Name20" func="var" arg="dir" op="equ" val="norm">
                                <dgm:alg type="hierChild">
                                  <dgm:param type="linDir" val="fromL"/>
                                </dgm:alg>
                              </dgm:if>
                              <dgm:else name="Name21">
                                <dgm:alg type="hierChild">
                                  <dgm:param type="linDir" val="fromR"/>
                                </dgm:alg>
                              </dgm:else>
                            </dgm:choose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  <dgm:constrLst/>
                            <dgm:ruleLst/>
                            <dgm:forEach name="repeat" axis="ch">
                              <dgm:forEach name="Name22" axis="self" ptType="parTrans" cnt="1">
                                <dgm:layoutNode name="Name23">
                                  <dgm:choose name="Name24">
                                    <dgm:if name="Name25" axis="self" func="depth" op="lte" val="4">
                                      <dgm:alg type="conn">
                                        <dgm:param type="dim" val="1D"/>
                                        <dgm:param type="endSty" val="noArr"/>
                                        <dgm:param type="connRout" val="bend"/>
                                        <dgm:param type="bendPt" val="end"/>
                                        <dgm:param type="begPts" val="bCtr"/>
                                        <dgm:param type="endPts" val="tCtr"/>
                                        <dgm:param type="srcNode" val="background3"/>
                                        <dgm:param type="dstNode" val="background4"/>
                                      </dgm:alg>
                                    </dgm:if>
                                    <dgm:else name="Name26">
                                      <dgm:alg type="conn">
                                        <dgm:param type="dim" val="1D"/>
                                        <dgm:param type="endSty" val="noArr"/>
                                        <dgm:param type="connRout" val="bend"/>
                                        <dgm:param type="bendPt" val="end"/>
                                        <dgm:param type="begPts" val="bCtr"/>
                                        <dgm:param type="endPts" val="tCtr"/>
                                        <dgm:param type="srcNode" val="background4"/>
                                        <dgm:param type="dstNode" val="background4"/>
                                      </dgm:alg>
                                    </dgm:else>
                                  </dgm:choose>
                                  <dgm:shape xmlns:r="http://schemas.openxmlformats.org/officeDocument/2006/relationships" type="conn" r:blip="" zOrderOff="-999">
                                    <dgm:adjLst/>
                                  </dgm:shape>
                                  <dgm:presOf axis="self"/>
                                  <dgm:constrLst>
                                    <dgm:constr type="begPad"/>
                                    <dgm:constr type="endPad"/>
                                  </dgm:constrLst>
                                  <dgm:ruleLst/>
                                </dgm:layoutNode>
                              </dgm:forEach>
                              <dgm:forEach name="Name27" axis="self" ptType="node">
                                <dgm:layoutNode name="hierRoot4">
                                  <dgm:alg type="hierRoot"/>
                                  <dgm:shape xmlns:r="http://schemas.openxmlformats.org/officeDocument/2006/relationships" r:blip="">
                                    <dgm:adjLst/>
                                  </dgm:shape>
                                  <dgm:presOf/>
                                  <dgm:constrLst>
                                    <dgm:constr type="bendDist" for="des" ptType="parTrans" refType="sp" fact="0.5"/>
                                  </dgm:constrLst>
                                  <dgm:ruleLst/>
                                  <dgm:layoutNode name="composite4">
                                    <dgm:alg type="composite"/>
                                    <dgm:shape xmlns:r="http://schemas.openxmlformats.org/officeDocument/2006/relationships" r:blip="">
                                      <dgm:adjLst/>
                                    </dgm:shape>
                                    <dgm:presOf/>
                                    <dgm:constrLst>
                                      <dgm:constr type="w" for="ch" forName="background4" refType="w" fact="0.9"/>
                                      <dgm:constr type="h" for="ch" forName="background4" refType="w" refFor="ch" refForName="background4" fact="0.635"/>
                                      <dgm:constr type="t" for="ch" forName="background4"/>
                                      <dgm:constr type="l" for="ch" forName="background4"/>
                                      <dgm:constr type="w" for="ch" forName="text4" refType="w" fact="0.9"/>
                                      <dgm:constr type="h" for="ch" forName="text4" refType="w" refFor="ch" refForName="text4" fact="0.635"/>
                                      <dgm:constr type="t" for="ch" forName="text4" refType="w" fact="0.095"/>
                                      <dgm:constr type="l" for="ch" forName="text4" refType="w" fact="0.1"/>
                                    </dgm:constrLst>
                                    <dgm:ruleLst/>
                                    <dgm:layoutNode name="background4" moveWith="text4">
                                      <dgm:alg type="sp"/>
                                      <dgm:shape xmlns:r="http://schemas.openxmlformats.org/officeDocument/2006/relationships" type="roundRect" r:blip="">
                                        <dgm:adjLst>
                                          <dgm:adj idx="1" val="0.1"/>
                                        </dgm:adjLst>
                                      </dgm:shape>
                                      <dgm:presOf/>
                                      <dgm:constrLst/>
                                      <dgm:ruleLst/>
                                    </dgm:layoutNode>
                                    <dgm:layoutNode name="text4" styleLbl="fgAcc4">
                                      <dgm:varLst>
                                        <dgm:chPref val="3"/>
                                      </dgm:varLst>
                                      <dgm:alg type="tx"/>
                                      <dgm:shape xmlns:r="http://schemas.openxmlformats.org/officeDocument/2006/relationships" type="roundRect" r:blip="">
                                        <dgm:adjLst>
                                          <dgm:adj idx="1" val="0.1"/>
                                        </dgm:adjLst>
                                      </dgm:shape>
                                      <dgm:presOf axis="self"/>
                                      <dgm:constrLst>
                                        <dgm:constr type="tMarg" refType="primFontSz" fact="0.3"/>
                                        <dgm:constr type="bMarg" refType="primFontSz" fact="0.3"/>
                                        <dgm:constr type="lMarg" refType="primFontSz" fact="0.3"/>
                                        <dgm:constr type="rMarg" refType="primFontSz" fact="0.3"/>
                                      </dgm:constrLst>
                                      <dgm:ruleLst>
                                        <dgm:rule type="primFontSz" val="5" fact="NaN" max="NaN"/>
                                      </dgm:ruleLst>
                                    </dgm:layoutNode>
                                  </dgm:layoutNode>
                                  <dgm:layoutNode name="hierChild5">
                                    <dgm:choose name="Name28">
                                      <dgm:if name="Name29" func="var" arg="dir" op="equ" val="norm">
                                        <dgm:alg type="hierChild">
                                          <dgm:param type="linDir" val="fromL"/>
                                        </dgm:alg>
                                      </dgm:if>
                                      <dgm:else name="Name30">
                                        <dgm:alg type="hierChild">
                                          <dgm:param type="linDir" val="fromR"/>
                                        </dgm:alg>
                                      </dgm:else>
                                    </dgm:choose>
                                    <dgm:shape xmlns:r="http://schemas.openxmlformats.org/officeDocument/2006/relationships" r:blip="">
                                      <dgm:adjLst/>
                                    </dgm:shape>
                                    <dgm:presOf/>
                                    <dgm:constrLst/>
                                    <dgm:ruleLst/>
                                    <dgm:forEach name="Name31" ref="repeat"/>
                                  </dgm:layoutNode>
                                </dgm:layoutNode>
                              </dgm:forEach>
                            </dgm:forEach>
                          </dgm:layoutNode>
                        </dgm:layoutNode>
                      </dgm:forEach>
                    </dgm:forEach>
                  </dgm:layoutNode>
                </dgm:layoutNode>
              </dgm:forEach>
            </dgm:forEach>
          </dgm:layoutNode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3A21C1-4EF2-6182-0516-C5507165A78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32420A7-99B6-93E8-2003-CCE062355AA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D8B376D-4595-D351-D6AE-2D80DE0D0C6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FEA96C4-76D9-4D10-A02D-18D5CECAB8B6}" type="datetimeFigureOut">
              <a:rPr lang="en-US" smtClean="0"/>
              <a:t>4/8/2026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D3EF155-74E3-5188-F9CD-AC4E287CDB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9206F4B-5152-9DD2-9B22-7D8C0E5DD9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E961676-19EA-4064-9B22-7B0AC921CBB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694210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9497646-5585-4ED3-075F-D0F55BA9CAA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C4553B4-C23D-55DE-6947-6E731C74455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3FA9131-8DFA-8467-34B8-83302BD1C90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FEA96C4-76D9-4D10-A02D-18D5CECAB8B6}" type="datetimeFigureOut">
              <a:rPr lang="en-US" smtClean="0"/>
              <a:t>4/8/2026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5766616-CEF1-D4EF-372E-AC26049855E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1247F67-981D-E228-4FDC-77721382A0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E961676-19EA-4064-9B22-7B0AC921CBB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0239567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9823E6-CDA6-F40F-B767-0F4637FD502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E4F2D7E-6E6E-907C-4FF9-AADADA23B17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ADD299D-B41F-B822-EB29-7D384B6315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FEA96C4-76D9-4D10-A02D-18D5CECAB8B6}" type="datetimeFigureOut">
              <a:rPr lang="en-US" smtClean="0"/>
              <a:t>4/8/2026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DA1CDB2-9C4C-481D-19EB-C14CD8D5561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263CEDA-1669-4F75-39C1-3C92396158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E961676-19EA-4064-9B22-7B0AC921CBB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6827435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903FB1-5DB2-7364-3D4E-92BD4E2DA5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B81FB98-9487-B1B9-11AB-27BD646F7C5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00F478E-B159-049D-88DE-D38EBDED9D8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15BDC59-86FA-95AC-8346-93E389C205B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FEA96C4-76D9-4D10-A02D-18D5CECAB8B6}" type="datetimeFigureOut">
              <a:rPr lang="en-US" smtClean="0"/>
              <a:t>4/8/2026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9F7F50B-8875-8433-1D78-3587438A997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2F39A49-2695-0C8D-D097-830DEC90E1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E961676-19EA-4064-9B22-7B0AC921CBB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2838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9834E1-E2D1-14D6-22CB-FC6932AC257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61EB33A-C34E-4F66-CE88-7FE085FBD8C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DDCC15E-13EB-8C9C-EF89-265E526D563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6BF1256-A58B-D48D-72D3-ECE2A29ACD4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65082FA-2461-37C1-CC11-717558EBD05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CBA8E647-B1D4-56A8-51A1-F2024CEBD4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FEA96C4-76D9-4D10-A02D-18D5CECAB8B6}" type="datetimeFigureOut">
              <a:rPr lang="en-US" smtClean="0"/>
              <a:t>4/8/2026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86425C1E-2811-A157-DCE2-672914D0744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8DC6FE74-F5EB-16BB-2721-26A69519D0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E961676-19EA-4064-9B22-7B0AC921CBB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3346022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290D90-E7C5-9364-3324-DF78814B01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E7F7BE5-6CFA-99E5-1067-71057B5DF22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FEA96C4-76D9-4D10-A02D-18D5CECAB8B6}" type="datetimeFigureOut">
              <a:rPr lang="en-US" smtClean="0"/>
              <a:t>4/8/2026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B83F03D-1EF6-A5D5-D100-9BDFEE66A71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FD1C218-569C-EE30-4D29-9EFFB6A9AB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E961676-19EA-4064-9B22-7B0AC921CBB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6902685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CB41335-01AC-34D5-F70E-3FD5843ABAD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FEA96C4-76D9-4D10-A02D-18D5CECAB8B6}" type="datetimeFigureOut">
              <a:rPr lang="en-US" smtClean="0"/>
              <a:t>4/8/2026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6B8BAFF8-A93B-F5E4-3F6F-5EB516B8CBF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E5E9685-F698-FBDC-5186-11BD28CF80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E961676-19EA-4064-9B22-7B0AC921CBB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1487230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03E855-9FBD-DC93-B6E4-17EDF2851EC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92FBD58-8BCA-C725-D51B-475F4491DC2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7916E58-5605-1241-7D98-EA046EB9E20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C76A50E-453D-C472-8E9E-F1F86D27722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FEA96C4-76D9-4D10-A02D-18D5CECAB8B6}" type="datetimeFigureOut">
              <a:rPr lang="en-US" smtClean="0"/>
              <a:t>4/8/2026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ED5C82C-C611-5CFE-F26E-6849F266942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3E733C3-7980-7AC0-5FE7-139C39925E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E961676-19EA-4064-9B22-7B0AC921CBB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0783319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0A0798-314C-1C53-37D0-FFDB2AE97F6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4D8DBA7-C6CD-ABD9-B3CF-562EE7AF64B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DFB35C1-3F1A-FAC0-37BD-B4F9BF6204C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2A14534-8A24-39AE-DC53-D1094EA6769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FEA96C4-76D9-4D10-A02D-18D5CECAB8B6}" type="datetimeFigureOut">
              <a:rPr lang="en-US" smtClean="0"/>
              <a:t>4/8/2026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0C3C2CB-12FC-300F-29AF-7999D13ECC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95EE9C5-561E-3FCD-0432-07C67427B3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E961676-19EA-4064-9B22-7B0AC921CBB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9010269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4956C2-DADB-B6B4-EE58-395B11525C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C9AC6E4-9547-C1B7-0405-49BBCD99F3D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9307A5B-BC33-7586-A411-B98E0ADCF0C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FEA96C4-76D9-4D10-A02D-18D5CECAB8B6}" type="datetimeFigureOut">
              <a:rPr lang="en-US" smtClean="0"/>
              <a:t>4/8/2026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7052D70-2EA1-DFEF-B04A-FDA01C9AE4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43E593D-BDD3-C66B-410C-054D286B41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E961676-19EA-4064-9B22-7B0AC921CBB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1954403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C3DEF63F-360B-0F89-CBFE-FD66B2EB967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FC0EA93-DE30-BC7A-A0A1-61577795CAC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085DDA1-B384-0C9F-56C7-F7AAA23032A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FEA96C4-76D9-4D10-A02D-18D5CECAB8B6}" type="datetimeFigureOut">
              <a:rPr lang="en-US" smtClean="0"/>
              <a:t>4/8/2026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ABC11C3-262D-3CDD-275C-839A9CE35E4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059B634-D1D5-96C0-8ACB-4EA790C982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E961676-19EA-4064-9B22-7B0AC921CBB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8691621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EA4DC40-2149-0E43-BD63-EEC628D36A7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95763E6-9833-44FF-F8BB-5156D4800E5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231FE59-AC59-D83C-40A7-F8227941C65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FEA96C4-76D9-4D10-A02D-18D5CECAB8B6}" type="datetimeFigureOut">
              <a:rPr lang="en-US" smtClean="0"/>
              <a:t>4/8/2026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A11E879-898C-C460-B107-FB0D42BA812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9B0D30C-BDFC-A338-FDEC-3491FF35268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E961676-19EA-4064-9B22-7B0AC921CBB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1389084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usgamblingsites.com/news/march-madness-betting-begins-in-the-united-states/" TargetMode="External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1.xml"/><Relationship Id="rId4" Type="http://schemas.openxmlformats.org/officeDocument/2006/relationships/hyperlink" Target="https://creativecommons.org/licenses/by-nd/3.0/" TargetMode="Externa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pexels.com/photo/basketball-american-basket-ring-9256/" TargetMode="External"/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hyperlink" Target="https://stat486final.streamlit.app/" TargetMode="Externa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1" name="Rectangle 10">
            <a:extLst>
              <a:ext uri="{FF2B5EF4-FFF2-40B4-BE49-F238E27FC236}">
                <a16:creationId xmlns:a16="http://schemas.microsoft.com/office/drawing/2014/main" id="{0671A8AE-40A1-4631-A6B8-581AFF06548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54458A8-0FB9-FB01-D730-B8CB987116D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rcRect l="19095" r="32241" b="-1"/>
          <a:stretch>
            <a:fillRect/>
          </a:stretch>
        </p:blipFill>
        <p:spPr>
          <a:xfrm>
            <a:off x="3523488" y="10"/>
            <a:ext cx="8668512" cy="6857990"/>
          </a:xfrm>
          <a:prstGeom prst="rect">
            <a:avLst/>
          </a:prstGeom>
        </p:spPr>
      </p:pic>
      <p:sp>
        <p:nvSpPr>
          <p:cNvPr id="16" name="Rectangle 15">
            <a:extLst>
              <a:ext uri="{FF2B5EF4-FFF2-40B4-BE49-F238E27FC236}">
                <a16:creationId xmlns:a16="http://schemas.microsoft.com/office/drawing/2014/main" id="{AB58EF07-17C2-48CF-ABB0-EEF1F17CB8F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" y="0"/>
            <a:ext cx="9339206" cy="6858000"/>
          </a:xfrm>
          <a:prstGeom prst="rect">
            <a:avLst/>
          </a:prstGeom>
          <a:gradFill>
            <a:gsLst>
              <a:gs pos="58000">
                <a:schemeClr val="tx1"/>
              </a:gs>
              <a:gs pos="33000">
                <a:schemeClr val="tx1">
                  <a:alpha val="64000"/>
                </a:schemeClr>
              </a:gs>
              <a:gs pos="0">
                <a:schemeClr val="tx1">
                  <a:alpha val="0"/>
                </a:schemeClr>
              </a:gs>
              <a:gs pos="100000">
                <a:schemeClr val="tx1"/>
              </a:gs>
            </a:gsLst>
            <a:lin ang="10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9C09C63-7E99-E03A-7CA0-14EE9E958DE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77981" y="1122363"/>
            <a:ext cx="4023360" cy="3204134"/>
          </a:xfrm>
        </p:spPr>
        <p:txBody>
          <a:bodyPr anchor="b">
            <a:normAutofit/>
          </a:bodyPr>
          <a:lstStyle/>
          <a:p>
            <a:pPr algn="l"/>
            <a:r>
              <a:rPr lang="en-US" sz="4800">
                <a:solidFill>
                  <a:schemeClr val="bg1"/>
                </a:solidFill>
              </a:rPr>
              <a:t>The Cinderella Problem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B398DF8-604E-0E74-2782-107FA9FF0A8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77980" y="4872922"/>
            <a:ext cx="4023359" cy="1208141"/>
          </a:xfrm>
        </p:spPr>
        <p:txBody>
          <a:bodyPr>
            <a:normAutofit/>
          </a:bodyPr>
          <a:lstStyle/>
          <a:p>
            <a:pPr algn="l"/>
            <a:r>
              <a:rPr lang="en-US" sz="2000">
                <a:solidFill>
                  <a:schemeClr val="bg1"/>
                </a:solidFill>
              </a:rPr>
              <a:t>By: Anton, James, Aaron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AF2F604E-43BE-4DC3-B983-E071523364F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759921" y="346791"/>
            <a:ext cx="146304" cy="70408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08C9B587-E65E-4B52-B37C-ABEBB6E8792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81029" y="4546920"/>
            <a:ext cx="3977640" cy="18288"/>
          </a:xfrm>
          <a:prstGeom prst="rect">
            <a:avLst/>
          </a:prstGeom>
          <a:solidFill>
            <a:schemeClr val="tx1"/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FE3BFC9-DF23-E701-1B71-CBC86AA91897}"/>
              </a:ext>
            </a:extLst>
          </p:cNvPr>
          <p:cNvSpPr txBox="1"/>
          <p:nvPr/>
        </p:nvSpPr>
        <p:spPr>
          <a:xfrm>
            <a:off x="9739085" y="6657945"/>
            <a:ext cx="2452915" cy="200055"/>
          </a:xfrm>
          <a:prstGeom prst="rect">
            <a:avLst/>
          </a:prstGeom>
          <a:solidFill>
            <a:srgbClr val="000000"/>
          </a:solidFill>
        </p:spPr>
        <p:txBody>
          <a:bodyPr wrap="none" rtlCol="0">
            <a:spAutoFit/>
          </a:bodyPr>
          <a:lstStyle/>
          <a:p>
            <a:pPr algn="r">
              <a:spcAft>
                <a:spcPts val="600"/>
              </a:spcAft>
            </a:pPr>
            <a:r>
              <a:rPr lang="en-US" sz="700">
                <a:solidFill>
                  <a:srgbClr val="FFFFFF"/>
                </a:solidFill>
                <a:hlinkClick r:id="rId3" tooltip="https://www.usgamblingsites.com/news/march-madness-betting-begins-in-the-united-states/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This Photo</a:t>
            </a:r>
            <a:r>
              <a:rPr lang="en-US" sz="700">
                <a:solidFill>
                  <a:srgbClr val="FFFFFF"/>
                </a:solidFill>
              </a:rPr>
              <a:t> by Unknown Author is licensed under </a:t>
            </a:r>
            <a:r>
              <a:rPr lang="en-US" sz="700">
                <a:solidFill>
                  <a:srgbClr val="FFFFFF"/>
                </a:solidFill>
                <a:hlinkClick r:id="rId4" tooltip="https://creativecommons.org/licenses/by-nd/3.0/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CC BY-ND</a:t>
            </a:r>
            <a:endParaRPr lang="en-US" sz="70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14180811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47" name="Rectangle 46">
            <a:extLst>
              <a:ext uri="{FF2B5EF4-FFF2-40B4-BE49-F238E27FC236}">
                <a16:creationId xmlns:a16="http://schemas.microsoft.com/office/drawing/2014/main" id="{04812C46-200A-4DEB-A05E-3ED6C68C238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49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14C1BD38-C00F-0BFB-A0E6-91E551E64D9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rcRect l="6236"/>
          <a:stretch>
            <a:fillRect/>
          </a:stretch>
        </p:blipFill>
        <p:spPr>
          <a:xfrm>
            <a:off x="2522356" y="10"/>
            <a:ext cx="9669642" cy="6857990"/>
          </a:xfrm>
          <a:prstGeom prst="rect">
            <a:avLst/>
          </a:prstGeom>
        </p:spPr>
      </p:pic>
      <p:sp>
        <p:nvSpPr>
          <p:cNvPr id="49" name="Rectangle 48">
            <a:extLst>
              <a:ext uri="{FF2B5EF4-FFF2-40B4-BE49-F238E27FC236}">
                <a16:creationId xmlns:a16="http://schemas.microsoft.com/office/drawing/2014/main" id="{D1EA859B-E555-4109-94F3-6700E046E00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1" y="0"/>
            <a:ext cx="7390263" cy="6858000"/>
          </a:xfrm>
          <a:prstGeom prst="rect">
            <a:avLst/>
          </a:prstGeom>
          <a:gradFill>
            <a:gsLst>
              <a:gs pos="48000">
                <a:schemeClr val="bg1"/>
              </a:gs>
              <a:gs pos="35000">
                <a:schemeClr val="bg1">
                  <a:alpha val="77000"/>
                </a:schemeClr>
              </a:gs>
              <a:gs pos="19000">
                <a:schemeClr val="bg1">
                  <a:alpha val="38000"/>
                </a:schemeClr>
              </a:gs>
              <a:gs pos="0">
                <a:schemeClr val="bg1">
                  <a:alpha val="0"/>
                </a:schemeClr>
              </a:gs>
              <a:gs pos="100000">
                <a:schemeClr val="bg1"/>
              </a:gs>
            </a:gsLst>
            <a:lin ang="10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C8D88B8A-9A0D-C7F1-3E06-5895DC2AA73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3822189" cy="1899912"/>
          </a:xfrm>
        </p:spPr>
        <p:txBody>
          <a:bodyPr>
            <a:normAutofit/>
          </a:bodyPr>
          <a:lstStyle/>
          <a:p>
            <a:r>
              <a:rPr lang="en-US" sz="4000"/>
              <a:t>Motivation and Hypothesis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15A3276-EEE9-7EBB-927F-58238A54F5E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434201"/>
            <a:ext cx="3822189" cy="3742762"/>
          </a:xfrm>
        </p:spPr>
        <p:txBody>
          <a:bodyPr>
            <a:normAutofit/>
          </a:bodyPr>
          <a:lstStyle/>
          <a:p>
            <a:r>
              <a:rPr lang="en-US" sz="1400"/>
              <a:t>Motivation:</a:t>
            </a:r>
          </a:p>
          <a:p>
            <a:pPr lvl="1"/>
            <a:r>
              <a:rPr lang="en-US" sz="1400"/>
              <a:t>The Goal: Predict March Madness “Cinderella” Upsets</a:t>
            </a:r>
          </a:p>
          <a:p>
            <a:pPr lvl="1"/>
            <a:r>
              <a:rPr lang="en-US" sz="1400"/>
              <a:t>The Problem: Traditional models typically over-rely on official seeding</a:t>
            </a:r>
          </a:p>
          <a:p>
            <a:pPr lvl="1"/>
            <a:r>
              <a:rPr lang="en-US" sz="1400"/>
              <a:t>The Solution: Focus on a team’s statistical DNA using regular season advanced metrics.</a:t>
            </a:r>
          </a:p>
          <a:p>
            <a:pPr marL="457200" lvl="1" indent="0">
              <a:buNone/>
            </a:pPr>
            <a:endParaRPr lang="en-US" sz="1400"/>
          </a:p>
          <a:p>
            <a:pPr marL="457200" lvl="1" indent="0">
              <a:buNone/>
            </a:pPr>
            <a:r>
              <a:rPr lang="en-US" sz="1400"/>
              <a:t>Hypothesis</a:t>
            </a:r>
          </a:p>
          <a:p>
            <a:pPr marL="457200" lvl="1" indent="0">
              <a:buNone/>
            </a:pPr>
            <a:r>
              <a:rPr lang="en-US" sz="1400"/>
              <a:t>- Integrating unsupervised anomaly scores into supervised classification models will significantly improve the predictive accuracy of NCAA tournament upsets.</a:t>
            </a:r>
          </a:p>
        </p:txBody>
      </p:sp>
    </p:spTree>
    <p:extLst>
      <p:ext uri="{BB962C8B-B14F-4D97-AF65-F5344CB8AC3E}">
        <p14:creationId xmlns:p14="http://schemas.microsoft.com/office/powerpoint/2010/main" val="292375957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A2679492-7988-4050-9056-54244445241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B091B163-7D61-4891-ABCF-5C13D9C418D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5779911" cy="6858000"/>
          </a:xfrm>
          <a:prstGeom prst="rect">
            <a:avLst/>
          </a:prstGeom>
          <a:gradFill flip="none" rotWithShape="1">
            <a:gsLst>
              <a:gs pos="0">
                <a:schemeClr val="accent1"/>
              </a:gs>
              <a:gs pos="100000">
                <a:schemeClr val="accent2"/>
              </a:gs>
            </a:gsLst>
            <a:lin ang="27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1BC4E29-A3D7-967E-0AF1-32EBD5692B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88069" y="381935"/>
            <a:ext cx="4008583" cy="5974414"/>
          </a:xfrm>
        </p:spPr>
        <p:txBody>
          <a:bodyPr anchor="ctr">
            <a:normAutofit/>
          </a:bodyPr>
          <a:lstStyle/>
          <a:p>
            <a:r>
              <a:rPr lang="en-US" sz="8000">
                <a:solidFill>
                  <a:srgbClr val="FFFFFF"/>
                </a:solidFill>
              </a:rPr>
              <a:t>The Data</a:t>
            </a:r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0474DF76-993E-44DE-AFB0-C416182ACEC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613892" y="554152"/>
            <a:ext cx="574177" cy="1075866"/>
            <a:chOff x="613892" y="554152"/>
            <a:chExt cx="574177" cy="1075866"/>
          </a:xfrm>
          <a:solidFill>
            <a:srgbClr val="FFFFFF"/>
          </a:solidFill>
        </p:grpSpPr>
        <p:sp>
          <p:nvSpPr>
            <p:cNvPr id="13" name="Graphic 11">
              <a:extLst>
                <a:ext uri="{FF2B5EF4-FFF2-40B4-BE49-F238E27FC236}">
                  <a16:creationId xmlns:a16="http://schemas.microsoft.com/office/drawing/2014/main" id="{6CB927A4-E432-4310-9CD5-E89FF506317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33061" y="554152"/>
              <a:ext cx="171515" cy="171515"/>
            </a:xfrm>
            <a:custGeom>
              <a:avLst/>
              <a:gdLst>
                <a:gd name="connsiteX0" fmla="*/ 159874 w 171515"/>
                <a:gd name="connsiteY0" fmla="*/ 74116 h 171515"/>
                <a:gd name="connsiteX1" fmla="*/ 97399 w 171515"/>
                <a:gd name="connsiteY1" fmla="*/ 74116 h 171515"/>
                <a:gd name="connsiteX2" fmla="*/ 97399 w 171515"/>
                <a:gd name="connsiteY2" fmla="*/ 11641 h 171515"/>
                <a:gd name="connsiteX3" fmla="*/ 85758 w 171515"/>
                <a:gd name="connsiteY3" fmla="*/ 0 h 171515"/>
                <a:gd name="connsiteX4" fmla="*/ 74116 w 171515"/>
                <a:gd name="connsiteY4" fmla="*/ 11641 h 171515"/>
                <a:gd name="connsiteX5" fmla="*/ 74116 w 171515"/>
                <a:gd name="connsiteY5" fmla="*/ 74116 h 171515"/>
                <a:gd name="connsiteX6" fmla="*/ 11641 w 171515"/>
                <a:gd name="connsiteY6" fmla="*/ 74116 h 171515"/>
                <a:gd name="connsiteX7" fmla="*/ 0 w 171515"/>
                <a:gd name="connsiteY7" fmla="*/ 85758 h 171515"/>
                <a:gd name="connsiteX8" fmla="*/ 11641 w 171515"/>
                <a:gd name="connsiteY8" fmla="*/ 97399 h 171515"/>
                <a:gd name="connsiteX9" fmla="*/ 74116 w 171515"/>
                <a:gd name="connsiteY9" fmla="*/ 97399 h 171515"/>
                <a:gd name="connsiteX10" fmla="*/ 74116 w 171515"/>
                <a:gd name="connsiteY10" fmla="*/ 159874 h 171515"/>
                <a:gd name="connsiteX11" fmla="*/ 85758 w 171515"/>
                <a:gd name="connsiteY11" fmla="*/ 171515 h 171515"/>
                <a:gd name="connsiteX12" fmla="*/ 97399 w 171515"/>
                <a:gd name="connsiteY12" fmla="*/ 159874 h 171515"/>
                <a:gd name="connsiteX13" fmla="*/ 97399 w 171515"/>
                <a:gd name="connsiteY13" fmla="*/ 97399 h 171515"/>
                <a:gd name="connsiteX14" fmla="*/ 159874 w 171515"/>
                <a:gd name="connsiteY14" fmla="*/ 97399 h 171515"/>
                <a:gd name="connsiteX15" fmla="*/ 171515 w 171515"/>
                <a:gd name="connsiteY15" fmla="*/ 85758 h 171515"/>
                <a:gd name="connsiteX16" fmla="*/ 159874 w 171515"/>
                <a:gd name="connsiteY16" fmla="*/ 74116 h 17151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171515" h="171515">
                  <a:moveTo>
                    <a:pt x="159874" y="74116"/>
                  </a:moveTo>
                  <a:lnTo>
                    <a:pt x="97399" y="74116"/>
                  </a:lnTo>
                  <a:lnTo>
                    <a:pt x="97399" y="11641"/>
                  </a:lnTo>
                  <a:cubicBezTo>
                    <a:pt x="97399" y="5212"/>
                    <a:pt x="92187" y="0"/>
                    <a:pt x="85758" y="0"/>
                  </a:cubicBezTo>
                  <a:cubicBezTo>
                    <a:pt x="79328" y="0"/>
                    <a:pt x="74116" y="5212"/>
                    <a:pt x="74116" y="11641"/>
                  </a:cubicBezTo>
                  <a:lnTo>
                    <a:pt x="74116" y="74116"/>
                  </a:lnTo>
                  <a:lnTo>
                    <a:pt x="11641" y="74116"/>
                  </a:lnTo>
                  <a:cubicBezTo>
                    <a:pt x="5212" y="74116"/>
                    <a:pt x="0" y="79328"/>
                    <a:pt x="0" y="85758"/>
                  </a:cubicBezTo>
                  <a:cubicBezTo>
                    <a:pt x="0" y="92187"/>
                    <a:pt x="5212" y="97399"/>
                    <a:pt x="11641" y="97399"/>
                  </a:cubicBezTo>
                  <a:lnTo>
                    <a:pt x="74116" y="97399"/>
                  </a:lnTo>
                  <a:lnTo>
                    <a:pt x="74116" y="159874"/>
                  </a:lnTo>
                  <a:cubicBezTo>
                    <a:pt x="74116" y="166303"/>
                    <a:pt x="79328" y="171515"/>
                    <a:pt x="85758" y="171515"/>
                  </a:cubicBezTo>
                  <a:cubicBezTo>
                    <a:pt x="92187" y="171515"/>
                    <a:pt x="97399" y="166303"/>
                    <a:pt x="97399" y="159874"/>
                  </a:cubicBezTo>
                  <a:lnTo>
                    <a:pt x="97399" y="97399"/>
                  </a:lnTo>
                  <a:lnTo>
                    <a:pt x="159874" y="97399"/>
                  </a:lnTo>
                  <a:cubicBezTo>
                    <a:pt x="166303" y="97399"/>
                    <a:pt x="171515" y="92187"/>
                    <a:pt x="171515" y="85758"/>
                  </a:cubicBezTo>
                  <a:cubicBezTo>
                    <a:pt x="171515" y="79328"/>
                    <a:pt x="166303" y="74116"/>
                    <a:pt x="159874" y="74116"/>
                  </a:cubicBezTo>
                  <a:close/>
                </a:path>
              </a:pathLst>
            </a:custGeom>
            <a:grpFill/>
            <a:ln w="77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4" name="Graphic 10">
              <a:extLst>
                <a:ext uri="{FF2B5EF4-FFF2-40B4-BE49-F238E27FC236}">
                  <a16:creationId xmlns:a16="http://schemas.microsoft.com/office/drawing/2014/main" id="{E3020543-B24B-4EC4-8FFC-8DD88EEA91A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075643" y="837005"/>
              <a:ext cx="112426" cy="112426"/>
            </a:xfrm>
            <a:custGeom>
              <a:avLst/>
              <a:gdLst>
                <a:gd name="connsiteX0" fmla="*/ 112426 w 112426"/>
                <a:gd name="connsiteY0" fmla="*/ 56213 h 112426"/>
                <a:gd name="connsiteX1" fmla="*/ 56213 w 112426"/>
                <a:gd name="connsiteY1" fmla="*/ 112426 h 112426"/>
                <a:gd name="connsiteX2" fmla="*/ 0 w 112426"/>
                <a:gd name="connsiteY2" fmla="*/ 56213 h 112426"/>
                <a:gd name="connsiteX3" fmla="*/ 56213 w 112426"/>
                <a:gd name="connsiteY3" fmla="*/ 0 h 112426"/>
                <a:gd name="connsiteX4" fmla="*/ 112426 w 112426"/>
                <a:gd name="connsiteY4" fmla="*/ 56213 h 1124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12426" h="112426">
                  <a:moveTo>
                    <a:pt x="112426" y="56213"/>
                  </a:moveTo>
                  <a:cubicBezTo>
                    <a:pt x="112426" y="87259"/>
                    <a:pt x="87259" y="112426"/>
                    <a:pt x="56213" y="112426"/>
                  </a:cubicBezTo>
                  <a:cubicBezTo>
                    <a:pt x="25167" y="112426"/>
                    <a:pt x="0" y="87259"/>
                    <a:pt x="0" y="56213"/>
                  </a:cubicBezTo>
                  <a:cubicBezTo>
                    <a:pt x="0" y="25167"/>
                    <a:pt x="25167" y="0"/>
                    <a:pt x="56213" y="0"/>
                  </a:cubicBezTo>
                  <a:cubicBezTo>
                    <a:pt x="87259" y="0"/>
                    <a:pt x="112426" y="25167"/>
                    <a:pt x="112426" y="56213"/>
                  </a:cubicBezTo>
                  <a:close/>
                </a:path>
              </a:pathLst>
            </a:custGeom>
            <a:grpFill/>
            <a:ln w="51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5" name="Graphic 12">
              <a:extLst>
                <a:ext uri="{FF2B5EF4-FFF2-40B4-BE49-F238E27FC236}">
                  <a16:creationId xmlns:a16="http://schemas.microsoft.com/office/drawing/2014/main" id="{1453BF6C-B012-48B7-B4E8-6D7AC7C27D0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13892" y="1472473"/>
              <a:ext cx="157545" cy="157545"/>
            </a:xfrm>
            <a:custGeom>
              <a:avLst/>
              <a:gdLst>
                <a:gd name="connsiteX0" fmla="*/ 78773 w 157545"/>
                <a:gd name="connsiteY0" fmla="*/ 23283 h 157545"/>
                <a:gd name="connsiteX1" fmla="*/ 134262 w 157545"/>
                <a:gd name="connsiteY1" fmla="*/ 78773 h 157545"/>
                <a:gd name="connsiteX2" fmla="*/ 78773 w 157545"/>
                <a:gd name="connsiteY2" fmla="*/ 134262 h 157545"/>
                <a:gd name="connsiteX3" fmla="*/ 23283 w 157545"/>
                <a:gd name="connsiteY3" fmla="*/ 78773 h 157545"/>
                <a:gd name="connsiteX4" fmla="*/ 78773 w 157545"/>
                <a:gd name="connsiteY4" fmla="*/ 23283 h 157545"/>
                <a:gd name="connsiteX5" fmla="*/ 78773 w 157545"/>
                <a:gd name="connsiteY5" fmla="*/ 0 h 157545"/>
                <a:gd name="connsiteX6" fmla="*/ 0 w 157545"/>
                <a:gd name="connsiteY6" fmla="*/ 78773 h 157545"/>
                <a:gd name="connsiteX7" fmla="*/ 78773 w 157545"/>
                <a:gd name="connsiteY7" fmla="*/ 157545 h 157545"/>
                <a:gd name="connsiteX8" fmla="*/ 157545 w 157545"/>
                <a:gd name="connsiteY8" fmla="*/ 78773 h 157545"/>
                <a:gd name="connsiteX9" fmla="*/ 78773 w 157545"/>
                <a:gd name="connsiteY9" fmla="*/ 0 h 1575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57545" h="157545">
                  <a:moveTo>
                    <a:pt x="78773" y="23283"/>
                  </a:moveTo>
                  <a:cubicBezTo>
                    <a:pt x="109419" y="23283"/>
                    <a:pt x="134262" y="48126"/>
                    <a:pt x="134262" y="78773"/>
                  </a:cubicBezTo>
                  <a:cubicBezTo>
                    <a:pt x="134262" y="109419"/>
                    <a:pt x="109419" y="134262"/>
                    <a:pt x="78773" y="134262"/>
                  </a:cubicBezTo>
                  <a:cubicBezTo>
                    <a:pt x="48126" y="134262"/>
                    <a:pt x="23283" y="109419"/>
                    <a:pt x="23283" y="78773"/>
                  </a:cubicBezTo>
                  <a:cubicBezTo>
                    <a:pt x="23312" y="48139"/>
                    <a:pt x="48139" y="23312"/>
                    <a:pt x="78773" y="23283"/>
                  </a:cubicBezTo>
                  <a:moveTo>
                    <a:pt x="78773" y="0"/>
                  </a:moveTo>
                  <a:cubicBezTo>
                    <a:pt x="35268" y="0"/>
                    <a:pt x="0" y="35268"/>
                    <a:pt x="0" y="78773"/>
                  </a:cubicBezTo>
                  <a:cubicBezTo>
                    <a:pt x="0" y="122277"/>
                    <a:pt x="35268" y="157545"/>
                    <a:pt x="78773" y="157545"/>
                  </a:cubicBezTo>
                  <a:cubicBezTo>
                    <a:pt x="122277" y="157545"/>
                    <a:pt x="157545" y="122277"/>
                    <a:pt x="157545" y="78773"/>
                  </a:cubicBezTo>
                  <a:cubicBezTo>
                    <a:pt x="157545" y="35268"/>
                    <a:pt x="122277" y="0"/>
                    <a:pt x="78773" y="0"/>
                  </a:cubicBezTo>
                  <a:close/>
                </a:path>
              </a:pathLst>
            </a:custGeom>
            <a:grpFill/>
            <a:ln w="75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1E40ECF-6E3C-9D92-886B-68467210747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97233" y="518400"/>
            <a:ext cx="4771607" cy="5837949"/>
          </a:xfrm>
        </p:spPr>
        <p:txBody>
          <a:bodyPr anchor="ctr">
            <a:normAutofit/>
          </a:bodyPr>
          <a:lstStyle/>
          <a:p>
            <a:r>
              <a:rPr lang="en-US" sz="2000">
                <a:solidFill>
                  <a:schemeClr val="tx1">
                    <a:alpha val="80000"/>
                  </a:schemeClr>
                </a:solidFill>
              </a:rPr>
              <a:t>Dataset Origin &amp; Scope</a:t>
            </a:r>
          </a:p>
          <a:p>
            <a:pPr lvl="1"/>
            <a:r>
              <a:rPr lang="en-US" sz="2000">
                <a:solidFill>
                  <a:schemeClr val="tx1">
                    <a:alpha val="80000"/>
                  </a:schemeClr>
                </a:solidFill>
              </a:rPr>
              <a:t>Source: Kaggle 2026 March Madness Competition</a:t>
            </a:r>
          </a:p>
          <a:p>
            <a:pPr lvl="1"/>
            <a:r>
              <a:rPr lang="en-US" sz="2000">
                <a:solidFill>
                  <a:schemeClr val="tx1">
                    <a:alpha val="80000"/>
                  </a:schemeClr>
                </a:solidFill>
              </a:rPr>
              <a:t>Timeline: 1984-1985</a:t>
            </a:r>
          </a:p>
          <a:p>
            <a:pPr lvl="1"/>
            <a:endParaRPr lang="en-US" sz="2000">
              <a:solidFill>
                <a:schemeClr val="tx1">
                  <a:alpha val="80000"/>
                </a:schemeClr>
              </a:solidFill>
            </a:endParaRPr>
          </a:p>
          <a:p>
            <a:pPr marL="457200" lvl="1" indent="0">
              <a:buNone/>
            </a:pPr>
            <a:r>
              <a:rPr lang="en-US" sz="2000">
                <a:solidFill>
                  <a:schemeClr val="tx1">
                    <a:alpha val="80000"/>
                  </a:schemeClr>
                </a:solidFill>
              </a:rPr>
              <a:t>Target Variable: CinderellaFlag</a:t>
            </a:r>
          </a:p>
          <a:p>
            <a:pPr lvl="1">
              <a:buFontTx/>
              <a:buChar char="-"/>
            </a:pPr>
            <a:r>
              <a:rPr lang="en-US" sz="2000">
                <a:solidFill>
                  <a:schemeClr val="tx1">
                    <a:alpha val="80000"/>
                  </a:schemeClr>
                </a:solidFill>
              </a:rPr>
              <a:t>Teams with seed &gt;= 10 and tournament wins &gt;= 2.</a:t>
            </a:r>
          </a:p>
          <a:p>
            <a:pPr lvl="1">
              <a:buFontTx/>
              <a:buChar char="-"/>
            </a:pPr>
            <a:endParaRPr lang="en-US" sz="2000">
              <a:solidFill>
                <a:schemeClr val="tx1">
                  <a:alpha val="80000"/>
                </a:schemeClr>
              </a:solidFill>
            </a:endParaRPr>
          </a:p>
          <a:p>
            <a:pPr lvl="1">
              <a:buFontTx/>
              <a:buChar char="-"/>
            </a:pPr>
            <a:r>
              <a:rPr lang="en-US" sz="2000">
                <a:solidFill>
                  <a:schemeClr val="tx1">
                    <a:alpha val="80000"/>
                  </a:schemeClr>
                </a:solidFill>
              </a:rPr>
              <a:t>Key Features:</a:t>
            </a:r>
          </a:p>
          <a:p>
            <a:pPr lvl="1">
              <a:buFontTx/>
              <a:buChar char="-"/>
            </a:pPr>
            <a:r>
              <a:rPr lang="en-US" sz="2000">
                <a:solidFill>
                  <a:schemeClr val="tx1">
                    <a:alpha val="80000"/>
                  </a:schemeClr>
                </a:solidFill>
              </a:rPr>
              <a:t>- Ranking Metrics: SeedNum, MasseyRankMean</a:t>
            </a:r>
          </a:p>
          <a:p>
            <a:pPr lvl="1">
              <a:buFontTx/>
              <a:buChar char="-"/>
            </a:pPr>
            <a:r>
              <a:rPr lang="en-US" sz="2000">
                <a:solidFill>
                  <a:schemeClr val="tx1">
                    <a:alpha val="80000"/>
                  </a:schemeClr>
                </a:solidFill>
              </a:rPr>
              <a:t>Performance: WinPct</a:t>
            </a:r>
          </a:p>
          <a:p>
            <a:pPr lvl="1">
              <a:buFontTx/>
              <a:buChar char="-"/>
            </a:pPr>
            <a:r>
              <a:rPr lang="en-US" sz="2000">
                <a:solidFill>
                  <a:schemeClr val="tx1">
                    <a:alpha val="80000"/>
                  </a:schemeClr>
                </a:solidFill>
              </a:rPr>
              <a:t>Efficiency: AvgScoreDiff, AvgPointsFor, AvgPointsAgainst</a:t>
            </a:r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C49DA8F6-BCC1-4447-B54C-57856834B94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11586162" y="3610394"/>
            <a:ext cx="0" cy="3238728"/>
          </a:xfrm>
          <a:prstGeom prst="line">
            <a:avLst/>
          </a:prstGeom>
          <a:ln w="25400" cap="sq">
            <a:gradFill flip="none" rotWithShape="1">
              <a:gsLst>
                <a:gs pos="0">
                  <a:schemeClr val="accent1"/>
                </a:gs>
                <a:gs pos="100000">
                  <a:schemeClr val="accent2"/>
                </a:gs>
              </a:gsLst>
              <a:lin ang="5400000" scaled="0"/>
              <a:tileRect/>
            </a:gradFill>
            <a:bevel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50429435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907EF6B7-1338-4443-8C46-6A318D952DF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48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DAAE4CDD-124C-4DCF-9584-B6033B545DD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0"/>
            <a:ext cx="4167271" cy="6858000"/>
          </a:xfrm>
          <a:custGeom>
            <a:avLst/>
            <a:gdLst>
              <a:gd name="connsiteX0" fmla="*/ 0 w 4167271"/>
              <a:gd name="connsiteY0" fmla="*/ 0 h 6858000"/>
              <a:gd name="connsiteX1" fmla="*/ 2259550 w 4167271"/>
              <a:gd name="connsiteY1" fmla="*/ 0 h 6858000"/>
              <a:gd name="connsiteX2" fmla="*/ 2387803 w 4167271"/>
              <a:gd name="connsiteY2" fmla="*/ 82222 h 6858000"/>
              <a:gd name="connsiteX3" fmla="*/ 4167271 w 4167271"/>
              <a:gd name="connsiteY3" fmla="*/ 3429000 h 6858000"/>
              <a:gd name="connsiteX4" fmla="*/ 2387803 w 4167271"/>
              <a:gd name="connsiteY4" fmla="*/ 6775779 h 6858000"/>
              <a:gd name="connsiteX5" fmla="*/ 2259550 w 4167271"/>
              <a:gd name="connsiteY5" fmla="*/ 6858000 h 6858000"/>
              <a:gd name="connsiteX6" fmla="*/ 0 w 4167271"/>
              <a:gd name="connsiteY6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167271" h="6858000">
                <a:moveTo>
                  <a:pt x="0" y="0"/>
                </a:moveTo>
                <a:lnTo>
                  <a:pt x="2259550" y="0"/>
                </a:lnTo>
                <a:lnTo>
                  <a:pt x="2387803" y="82222"/>
                </a:lnTo>
                <a:cubicBezTo>
                  <a:pt x="3461407" y="807534"/>
                  <a:pt x="4167271" y="2035835"/>
                  <a:pt x="4167271" y="3429000"/>
                </a:cubicBezTo>
                <a:cubicBezTo>
                  <a:pt x="4167271" y="4822165"/>
                  <a:pt x="3461407" y="6050467"/>
                  <a:pt x="2387803" y="6775779"/>
                </a:cubicBezTo>
                <a:lnTo>
                  <a:pt x="2259550" y="6858000"/>
                </a:lnTo>
                <a:lnTo>
                  <a:pt x="0" y="685800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9C1D725-9251-7DF5-1F23-121F2299FBB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6834" y="1153572"/>
            <a:ext cx="3200400" cy="4461163"/>
          </a:xfrm>
        </p:spPr>
        <p:txBody>
          <a:bodyPr>
            <a:normAutofit/>
          </a:bodyPr>
          <a:lstStyle/>
          <a:p>
            <a:r>
              <a:rPr lang="en-US">
                <a:solidFill>
                  <a:srgbClr val="FFFFFF"/>
                </a:solidFill>
              </a:rPr>
              <a:t>Methodology</a:t>
            </a:r>
          </a:p>
        </p:txBody>
      </p:sp>
      <p:sp>
        <p:nvSpPr>
          <p:cNvPr id="12" name="Arc 11">
            <a:extLst>
              <a:ext uri="{FF2B5EF4-FFF2-40B4-BE49-F238E27FC236}">
                <a16:creationId xmlns:a16="http://schemas.microsoft.com/office/drawing/2014/main" id="{081E4A58-353D-44AE-B2FC-2A74E2E400F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V="1">
            <a:off x="7550402" y="2455479"/>
            <a:ext cx="4083433" cy="4083433"/>
          </a:xfrm>
          <a:prstGeom prst="arc">
            <a:avLst/>
          </a:prstGeom>
          <a:ln w="127000" cap="rnd">
            <a:solidFill>
              <a:schemeClr val="accent4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358B44C-9E92-F2E4-97B8-4F7168AD88B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447308" y="591344"/>
            <a:ext cx="6906491" cy="5585619"/>
          </a:xfrm>
        </p:spPr>
        <p:txBody>
          <a:bodyPr anchor="ctr">
            <a:normAutofit/>
          </a:bodyPr>
          <a:lstStyle/>
          <a:p>
            <a:r>
              <a:rPr lang="en-US" dirty="0"/>
              <a:t>Phase 1: Unsupervised Learning</a:t>
            </a:r>
          </a:p>
          <a:p>
            <a:r>
              <a:rPr lang="en-US" dirty="0"/>
              <a:t>Evaluated all division I teams to map out statistical DNA</a:t>
            </a:r>
          </a:p>
          <a:p>
            <a:r>
              <a:rPr lang="en-US" dirty="0"/>
              <a:t>Models Tested: Isolation Forests &amp; Gaussian Mixture Models (GMM)</a:t>
            </a:r>
          </a:p>
          <a:p>
            <a:endParaRPr lang="en-US" dirty="0"/>
          </a:p>
          <a:p>
            <a:r>
              <a:rPr lang="en-US" dirty="0"/>
              <a:t>Phase 2: Supervised Classification</a:t>
            </a:r>
          </a:p>
          <a:p>
            <a:r>
              <a:rPr lang="en-US" dirty="0"/>
              <a:t>Filtered dataset strictly to Cinderella candidates (Seed 10-16, N = 680)</a:t>
            </a:r>
          </a:p>
          <a:p>
            <a:r>
              <a:rPr lang="en-US" dirty="0"/>
              <a:t>Models Tested: Random Forest vs. XGBoost</a:t>
            </a:r>
          </a:p>
        </p:txBody>
      </p:sp>
    </p:spTree>
    <p:extLst>
      <p:ext uri="{BB962C8B-B14F-4D97-AF65-F5344CB8AC3E}">
        <p14:creationId xmlns:p14="http://schemas.microsoft.com/office/powerpoint/2010/main" val="361387204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743AA782-23D1-4521-8CAD-47662984AA0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E1231AA-D68E-5E3E-38D9-A11CFECCFD2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0936" y="640080"/>
            <a:ext cx="4818888" cy="1481328"/>
          </a:xfrm>
        </p:spPr>
        <p:txBody>
          <a:bodyPr anchor="b">
            <a:normAutofit/>
          </a:bodyPr>
          <a:lstStyle/>
          <a:p>
            <a:r>
              <a:rPr lang="en-US" sz="5000"/>
              <a:t>Feature Importance</a:t>
            </a:r>
          </a:p>
        </p:txBody>
      </p:sp>
      <p:sp>
        <p:nvSpPr>
          <p:cNvPr id="12" name="sketch line">
            <a:extLst>
              <a:ext uri="{FF2B5EF4-FFF2-40B4-BE49-F238E27FC236}">
                <a16:creationId xmlns:a16="http://schemas.microsoft.com/office/drawing/2014/main" id="{71877DBC-BB60-40F0-AC93-2ACDBAAE60C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43278" y="2372868"/>
            <a:ext cx="3255095" cy="18288"/>
          </a:xfrm>
          <a:custGeom>
            <a:avLst/>
            <a:gdLst>
              <a:gd name="csX0" fmla="*/ 0 w 3255095"/>
              <a:gd name="csY0" fmla="*/ 0 h 18288"/>
              <a:gd name="csX1" fmla="*/ 618468 w 3255095"/>
              <a:gd name="csY1" fmla="*/ 0 h 18288"/>
              <a:gd name="csX2" fmla="*/ 1269487 w 3255095"/>
              <a:gd name="csY2" fmla="*/ 0 h 18288"/>
              <a:gd name="csX3" fmla="*/ 1953057 w 3255095"/>
              <a:gd name="csY3" fmla="*/ 0 h 18288"/>
              <a:gd name="csX4" fmla="*/ 2636627 w 3255095"/>
              <a:gd name="csY4" fmla="*/ 0 h 18288"/>
              <a:gd name="csX5" fmla="*/ 3255095 w 3255095"/>
              <a:gd name="csY5" fmla="*/ 0 h 18288"/>
              <a:gd name="csX6" fmla="*/ 3255095 w 3255095"/>
              <a:gd name="csY6" fmla="*/ 18288 h 18288"/>
              <a:gd name="csX7" fmla="*/ 2538974 w 3255095"/>
              <a:gd name="csY7" fmla="*/ 18288 h 18288"/>
              <a:gd name="csX8" fmla="*/ 1822853 w 3255095"/>
              <a:gd name="csY8" fmla="*/ 18288 h 18288"/>
              <a:gd name="csX9" fmla="*/ 1171834 w 3255095"/>
              <a:gd name="csY9" fmla="*/ 18288 h 18288"/>
              <a:gd name="csX10" fmla="*/ 0 w 3255095"/>
              <a:gd name="csY10" fmla="*/ 18288 h 18288"/>
              <a:gd name="csX11" fmla="*/ 0 w 3255095"/>
              <a:gd name="csY11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</a:cxnLst>
            <a:rect l="l" t="t" r="r" b="b"/>
            <a:pathLst>
              <a:path w="3255095" h="18288" fill="none" extrusionOk="0">
                <a:moveTo>
                  <a:pt x="0" y="0"/>
                </a:moveTo>
                <a:cubicBezTo>
                  <a:pt x="240201" y="-22123"/>
                  <a:pt x="462021" y="-19623"/>
                  <a:pt x="618468" y="0"/>
                </a:cubicBezTo>
                <a:cubicBezTo>
                  <a:pt x="774915" y="19623"/>
                  <a:pt x="974734" y="2035"/>
                  <a:pt x="1269487" y="0"/>
                </a:cubicBezTo>
                <a:cubicBezTo>
                  <a:pt x="1564240" y="-2035"/>
                  <a:pt x="1733579" y="10639"/>
                  <a:pt x="1953057" y="0"/>
                </a:cubicBezTo>
                <a:cubicBezTo>
                  <a:pt x="2172535" y="-10639"/>
                  <a:pt x="2453962" y="14018"/>
                  <a:pt x="2636627" y="0"/>
                </a:cubicBezTo>
                <a:cubicBezTo>
                  <a:pt x="2819292" y="-14018"/>
                  <a:pt x="3121375" y="5399"/>
                  <a:pt x="3255095" y="0"/>
                </a:cubicBezTo>
                <a:cubicBezTo>
                  <a:pt x="3254386" y="8157"/>
                  <a:pt x="3254682" y="12125"/>
                  <a:pt x="3255095" y="18288"/>
                </a:cubicBezTo>
                <a:cubicBezTo>
                  <a:pt x="3088545" y="23203"/>
                  <a:pt x="2687475" y="7419"/>
                  <a:pt x="2538974" y="18288"/>
                </a:cubicBezTo>
                <a:cubicBezTo>
                  <a:pt x="2390473" y="29157"/>
                  <a:pt x="2137381" y="-8959"/>
                  <a:pt x="1822853" y="18288"/>
                </a:cubicBezTo>
                <a:cubicBezTo>
                  <a:pt x="1508325" y="45535"/>
                  <a:pt x="1466437" y="20385"/>
                  <a:pt x="1171834" y="18288"/>
                </a:cubicBezTo>
                <a:cubicBezTo>
                  <a:pt x="877231" y="16191"/>
                  <a:pt x="561097" y="37643"/>
                  <a:pt x="0" y="18288"/>
                </a:cubicBezTo>
                <a:cubicBezTo>
                  <a:pt x="-46" y="12483"/>
                  <a:pt x="-203" y="6491"/>
                  <a:pt x="0" y="0"/>
                </a:cubicBezTo>
                <a:close/>
              </a:path>
              <a:path w="3255095" h="18288" stroke="0" extrusionOk="0">
                <a:moveTo>
                  <a:pt x="0" y="0"/>
                </a:moveTo>
                <a:cubicBezTo>
                  <a:pt x="291965" y="19429"/>
                  <a:pt x="363155" y="8568"/>
                  <a:pt x="618468" y="0"/>
                </a:cubicBezTo>
                <a:cubicBezTo>
                  <a:pt x="873781" y="-8568"/>
                  <a:pt x="904459" y="-19505"/>
                  <a:pt x="1171834" y="0"/>
                </a:cubicBezTo>
                <a:cubicBezTo>
                  <a:pt x="1439209" y="19505"/>
                  <a:pt x="1744369" y="9790"/>
                  <a:pt x="1887955" y="0"/>
                </a:cubicBezTo>
                <a:cubicBezTo>
                  <a:pt x="2031541" y="-9790"/>
                  <a:pt x="2346378" y="21240"/>
                  <a:pt x="2506423" y="0"/>
                </a:cubicBezTo>
                <a:cubicBezTo>
                  <a:pt x="2666468" y="-21240"/>
                  <a:pt x="2990257" y="30414"/>
                  <a:pt x="3255095" y="0"/>
                </a:cubicBezTo>
                <a:cubicBezTo>
                  <a:pt x="3254831" y="4493"/>
                  <a:pt x="3255479" y="9472"/>
                  <a:pt x="3255095" y="18288"/>
                </a:cubicBezTo>
                <a:cubicBezTo>
                  <a:pt x="3120743" y="16690"/>
                  <a:pt x="2759628" y="42462"/>
                  <a:pt x="2604076" y="18288"/>
                </a:cubicBezTo>
                <a:cubicBezTo>
                  <a:pt x="2448524" y="-5886"/>
                  <a:pt x="2184336" y="19599"/>
                  <a:pt x="1887955" y="18288"/>
                </a:cubicBezTo>
                <a:cubicBezTo>
                  <a:pt x="1591574" y="16977"/>
                  <a:pt x="1548845" y="6870"/>
                  <a:pt x="1334589" y="18288"/>
                </a:cubicBezTo>
                <a:cubicBezTo>
                  <a:pt x="1120333" y="29706"/>
                  <a:pt x="996014" y="9662"/>
                  <a:pt x="683570" y="18288"/>
                </a:cubicBezTo>
                <a:cubicBezTo>
                  <a:pt x="371126" y="26914"/>
                  <a:pt x="198687" y="16167"/>
                  <a:pt x="0" y="18288"/>
                </a:cubicBezTo>
                <a:cubicBezTo>
                  <a:pt x="843" y="9577"/>
                  <a:pt x="371" y="6900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38100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F2610FC-C8BD-1B28-5CF1-C94A6C57EF7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30936" y="2660904"/>
            <a:ext cx="4818888" cy="3547872"/>
          </a:xfrm>
        </p:spPr>
        <p:txBody>
          <a:bodyPr anchor="t">
            <a:normAutofit/>
          </a:bodyPr>
          <a:lstStyle/>
          <a:p>
            <a:pPr marL="0" indent="0">
              <a:buNone/>
            </a:pPr>
            <a:r>
              <a:rPr lang="en-US" sz="2200" dirty="0" err="1"/>
              <a:t>SeedNum</a:t>
            </a:r>
            <a:r>
              <a:rPr lang="en-US" sz="2200" dirty="0"/>
              <a:t> was highly predictive but the model predictions were also driven by </a:t>
            </a:r>
            <a:r>
              <a:rPr lang="en-US" sz="2200" dirty="0" err="1"/>
              <a:t>Rank_vs_TourneyAvg</a:t>
            </a:r>
            <a:r>
              <a:rPr lang="en-US" sz="2200" dirty="0"/>
              <a:t>, and Massey Ratings. While other variables were slightly less impactful.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CBF5752-19B2-8271-73D0-3DDF01E9FA2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9048" y="1450123"/>
            <a:ext cx="5458968" cy="39577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5416743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100EDD19-6802-4EC3-95CE-CFFAB042CFD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3CA9FF4-D956-CC7F-78D8-8F25F0E5F4B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en-US" sz="5400"/>
              <a:t>Supervised Classification</a:t>
            </a:r>
          </a:p>
        </p:txBody>
      </p:sp>
      <p:sp>
        <p:nvSpPr>
          <p:cNvPr id="5" name="sketch line">
            <a:extLst>
              <a:ext uri="{FF2B5EF4-FFF2-40B4-BE49-F238E27FC236}">
                <a16:creationId xmlns:a16="http://schemas.microsoft.com/office/drawing/2014/main" id="{DB17E863-922E-4C26-BD64-E8FD41D2866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69036" y="1677373"/>
            <a:ext cx="10853928" cy="18288"/>
          </a:xfrm>
          <a:custGeom>
            <a:avLst/>
            <a:gdLst>
              <a:gd name="csX0" fmla="*/ 0 w 10853928"/>
              <a:gd name="csY0" fmla="*/ 0 h 18288"/>
              <a:gd name="csX1" fmla="*/ 461292 w 10853928"/>
              <a:gd name="csY1" fmla="*/ 0 h 18288"/>
              <a:gd name="csX2" fmla="*/ 1139662 w 10853928"/>
              <a:gd name="csY2" fmla="*/ 0 h 18288"/>
              <a:gd name="csX3" fmla="*/ 1926572 w 10853928"/>
              <a:gd name="csY3" fmla="*/ 0 h 18288"/>
              <a:gd name="csX4" fmla="*/ 2279325 w 10853928"/>
              <a:gd name="csY4" fmla="*/ 0 h 18288"/>
              <a:gd name="csX5" fmla="*/ 2632078 w 10853928"/>
              <a:gd name="csY5" fmla="*/ 0 h 18288"/>
              <a:gd name="csX6" fmla="*/ 3527527 w 10853928"/>
              <a:gd name="csY6" fmla="*/ 0 h 18288"/>
              <a:gd name="csX7" fmla="*/ 4205897 w 10853928"/>
              <a:gd name="csY7" fmla="*/ 0 h 18288"/>
              <a:gd name="csX8" fmla="*/ 4558650 w 10853928"/>
              <a:gd name="csY8" fmla="*/ 0 h 18288"/>
              <a:gd name="csX9" fmla="*/ 5237020 w 10853928"/>
              <a:gd name="csY9" fmla="*/ 0 h 18288"/>
              <a:gd name="csX10" fmla="*/ 6132469 w 10853928"/>
              <a:gd name="csY10" fmla="*/ 0 h 18288"/>
              <a:gd name="csX11" fmla="*/ 6702301 w 10853928"/>
              <a:gd name="csY11" fmla="*/ 0 h 18288"/>
              <a:gd name="csX12" fmla="*/ 7272132 w 10853928"/>
              <a:gd name="csY12" fmla="*/ 0 h 18288"/>
              <a:gd name="csX13" fmla="*/ 7950502 w 10853928"/>
              <a:gd name="csY13" fmla="*/ 0 h 18288"/>
              <a:gd name="csX14" fmla="*/ 8737412 w 10853928"/>
              <a:gd name="csY14" fmla="*/ 0 h 18288"/>
              <a:gd name="csX15" fmla="*/ 9524322 w 10853928"/>
              <a:gd name="csY15" fmla="*/ 0 h 18288"/>
              <a:gd name="csX16" fmla="*/ 10853928 w 10853928"/>
              <a:gd name="csY16" fmla="*/ 0 h 18288"/>
              <a:gd name="csX17" fmla="*/ 10853928 w 10853928"/>
              <a:gd name="csY17" fmla="*/ 18288 h 18288"/>
              <a:gd name="csX18" fmla="*/ 10392636 w 10853928"/>
              <a:gd name="csY18" fmla="*/ 18288 h 18288"/>
              <a:gd name="csX19" fmla="*/ 9497187 w 10853928"/>
              <a:gd name="csY19" fmla="*/ 18288 h 18288"/>
              <a:gd name="csX20" fmla="*/ 8818817 w 10853928"/>
              <a:gd name="csY20" fmla="*/ 18288 h 18288"/>
              <a:gd name="csX21" fmla="*/ 8466064 w 10853928"/>
              <a:gd name="csY21" fmla="*/ 18288 h 18288"/>
              <a:gd name="csX22" fmla="*/ 7787693 w 10853928"/>
              <a:gd name="csY22" fmla="*/ 18288 h 18288"/>
              <a:gd name="csX23" fmla="*/ 7217862 w 10853928"/>
              <a:gd name="csY23" fmla="*/ 18288 h 18288"/>
              <a:gd name="csX24" fmla="*/ 6648031 w 10853928"/>
              <a:gd name="csY24" fmla="*/ 18288 h 18288"/>
              <a:gd name="csX25" fmla="*/ 6078200 w 10853928"/>
              <a:gd name="csY25" fmla="*/ 18288 h 18288"/>
              <a:gd name="csX26" fmla="*/ 5508368 w 10853928"/>
              <a:gd name="csY26" fmla="*/ 18288 h 18288"/>
              <a:gd name="csX27" fmla="*/ 4721459 w 10853928"/>
              <a:gd name="csY27" fmla="*/ 18288 h 18288"/>
              <a:gd name="csX28" fmla="*/ 4043088 w 10853928"/>
              <a:gd name="csY28" fmla="*/ 18288 h 18288"/>
              <a:gd name="csX29" fmla="*/ 3690336 w 10853928"/>
              <a:gd name="csY29" fmla="*/ 18288 h 18288"/>
              <a:gd name="csX30" fmla="*/ 3120504 w 10853928"/>
              <a:gd name="csY30" fmla="*/ 18288 h 18288"/>
              <a:gd name="csX31" fmla="*/ 2333595 w 10853928"/>
              <a:gd name="csY31" fmla="*/ 18288 h 18288"/>
              <a:gd name="csX32" fmla="*/ 1872303 w 10853928"/>
              <a:gd name="csY32" fmla="*/ 18288 h 18288"/>
              <a:gd name="csX33" fmla="*/ 976854 w 10853928"/>
              <a:gd name="csY33" fmla="*/ 18288 h 18288"/>
              <a:gd name="csX34" fmla="*/ 0 w 10853928"/>
              <a:gd name="csY34" fmla="*/ 18288 h 18288"/>
              <a:gd name="csX35" fmla="*/ 0 w 10853928"/>
              <a:gd name="csY35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</a:cxnLst>
            <a:rect l="l" t="t" r="r" b="b"/>
            <a:pathLst>
              <a:path w="10853928" h="18288" fill="none" extrusionOk="0">
                <a:moveTo>
                  <a:pt x="0" y="0"/>
                </a:moveTo>
                <a:cubicBezTo>
                  <a:pt x="146993" y="-19076"/>
                  <a:pt x="347684" y="-4790"/>
                  <a:pt x="461292" y="0"/>
                </a:cubicBezTo>
                <a:cubicBezTo>
                  <a:pt x="574900" y="4790"/>
                  <a:pt x="808367" y="19821"/>
                  <a:pt x="1139662" y="0"/>
                </a:cubicBezTo>
                <a:cubicBezTo>
                  <a:pt x="1470957" y="-19821"/>
                  <a:pt x="1627405" y="5721"/>
                  <a:pt x="1926572" y="0"/>
                </a:cubicBezTo>
                <a:cubicBezTo>
                  <a:pt x="2225739" y="-5721"/>
                  <a:pt x="2137730" y="-3235"/>
                  <a:pt x="2279325" y="0"/>
                </a:cubicBezTo>
                <a:cubicBezTo>
                  <a:pt x="2420920" y="3235"/>
                  <a:pt x="2456518" y="9685"/>
                  <a:pt x="2632078" y="0"/>
                </a:cubicBezTo>
                <a:cubicBezTo>
                  <a:pt x="2807638" y="-9685"/>
                  <a:pt x="3211516" y="-43007"/>
                  <a:pt x="3527527" y="0"/>
                </a:cubicBezTo>
                <a:cubicBezTo>
                  <a:pt x="3843538" y="43007"/>
                  <a:pt x="4058833" y="22042"/>
                  <a:pt x="4205897" y="0"/>
                </a:cubicBezTo>
                <a:cubicBezTo>
                  <a:pt x="4352961" y="-22042"/>
                  <a:pt x="4474805" y="-11846"/>
                  <a:pt x="4558650" y="0"/>
                </a:cubicBezTo>
                <a:cubicBezTo>
                  <a:pt x="4642495" y="11846"/>
                  <a:pt x="5041928" y="-6069"/>
                  <a:pt x="5237020" y="0"/>
                </a:cubicBezTo>
                <a:cubicBezTo>
                  <a:pt x="5432112" y="6069"/>
                  <a:pt x="5943266" y="-17479"/>
                  <a:pt x="6132469" y="0"/>
                </a:cubicBezTo>
                <a:cubicBezTo>
                  <a:pt x="6321672" y="17479"/>
                  <a:pt x="6483872" y="26234"/>
                  <a:pt x="6702301" y="0"/>
                </a:cubicBezTo>
                <a:cubicBezTo>
                  <a:pt x="6920730" y="-26234"/>
                  <a:pt x="6991194" y="-15156"/>
                  <a:pt x="7272132" y="0"/>
                </a:cubicBezTo>
                <a:cubicBezTo>
                  <a:pt x="7553070" y="15156"/>
                  <a:pt x="7684444" y="-32961"/>
                  <a:pt x="7950502" y="0"/>
                </a:cubicBezTo>
                <a:cubicBezTo>
                  <a:pt x="8216560" y="32961"/>
                  <a:pt x="8493290" y="-10491"/>
                  <a:pt x="8737412" y="0"/>
                </a:cubicBezTo>
                <a:cubicBezTo>
                  <a:pt x="8981534" y="10491"/>
                  <a:pt x="9191586" y="-13899"/>
                  <a:pt x="9524322" y="0"/>
                </a:cubicBezTo>
                <a:cubicBezTo>
                  <a:pt x="9857058" y="13899"/>
                  <a:pt x="10297509" y="7485"/>
                  <a:pt x="10853928" y="0"/>
                </a:cubicBezTo>
                <a:cubicBezTo>
                  <a:pt x="10854574" y="4451"/>
                  <a:pt x="10854418" y="9226"/>
                  <a:pt x="10853928" y="18288"/>
                </a:cubicBezTo>
                <a:cubicBezTo>
                  <a:pt x="10691638" y="28522"/>
                  <a:pt x="10574319" y="29578"/>
                  <a:pt x="10392636" y="18288"/>
                </a:cubicBezTo>
                <a:cubicBezTo>
                  <a:pt x="10210953" y="6998"/>
                  <a:pt x="9836277" y="-16742"/>
                  <a:pt x="9497187" y="18288"/>
                </a:cubicBezTo>
                <a:cubicBezTo>
                  <a:pt x="9158097" y="53318"/>
                  <a:pt x="9119479" y="30714"/>
                  <a:pt x="8818817" y="18288"/>
                </a:cubicBezTo>
                <a:cubicBezTo>
                  <a:pt x="8518155" y="5863"/>
                  <a:pt x="8640037" y="6483"/>
                  <a:pt x="8466064" y="18288"/>
                </a:cubicBezTo>
                <a:cubicBezTo>
                  <a:pt x="8292091" y="30093"/>
                  <a:pt x="7997656" y="18914"/>
                  <a:pt x="7787693" y="18288"/>
                </a:cubicBezTo>
                <a:cubicBezTo>
                  <a:pt x="7577730" y="17662"/>
                  <a:pt x="7412468" y="21416"/>
                  <a:pt x="7217862" y="18288"/>
                </a:cubicBezTo>
                <a:cubicBezTo>
                  <a:pt x="7023256" y="15160"/>
                  <a:pt x="6898018" y="14824"/>
                  <a:pt x="6648031" y="18288"/>
                </a:cubicBezTo>
                <a:cubicBezTo>
                  <a:pt x="6398044" y="21752"/>
                  <a:pt x="6254402" y="38625"/>
                  <a:pt x="6078200" y="18288"/>
                </a:cubicBezTo>
                <a:cubicBezTo>
                  <a:pt x="5901998" y="-2049"/>
                  <a:pt x="5622886" y="3213"/>
                  <a:pt x="5508368" y="18288"/>
                </a:cubicBezTo>
                <a:cubicBezTo>
                  <a:pt x="5393850" y="33363"/>
                  <a:pt x="5036260" y="26830"/>
                  <a:pt x="4721459" y="18288"/>
                </a:cubicBezTo>
                <a:cubicBezTo>
                  <a:pt x="4406658" y="9746"/>
                  <a:pt x="4239221" y="41551"/>
                  <a:pt x="4043088" y="18288"/>
                </a:cubicBezTo>
                <a:cubicBezTo>
                  <a:pt x="3846955" y="-4975"/>
                  <a:pt x="3818802" y="34658"/>
                  <a:pt x="3690336" y="18288"/>
                </a:cubicBezTo>
                <a:cubicBezTo>
                  <a:pt x="3561870" y="1918"/>
                  <a:pt x="3265491" y="42194"/>
                  <a:pt x="3120504" y="18288"/>
                </a:cubicBezTo>
                <a:cubicBezTo>
                  <a:pt x="2975517" y="-5618"/>
                  <a:pt x="2720254" y="36673"/>
                  <a:pt x="2333595" y="18288"/>
                </a:cubicBezTo>
                <a:cubicBezTo>
                  <a:pt x="1946936" y="-97"/>
                  <a:pt x="2097241" y="5776"/>
                  <a:pt x="1872303" y="18288"/>
                </a:cubicBezTo>
                <a:cubicBezTo>
                  <a:pt x="1647365" y="30800"/>
                  <a:pt x="1282708" y="45380"/>
                  <a:pt x="976854" y="18288"/>
                </a:cubicBezTo>
                <a:cubicBezTo>
                  <a:pt x="671000" y="-8804"/>
                  <a:pt x="408401" y="-12775"/>
                  <a:pt x="0" y="18288"/>
                </a:cubicBezTo>
                <a:cubicBezTo>
                  <a:pt x="-213" y="9468"/>
                  <a:pt x="187" y="4459"/>
                  <a:pt x="0" y="0"/>
                </a:cubicBezTo>
                <a:close/>
              </a:path>
              <a:path w="10853928" h="18288" stroke="0" extrusionOk="0">
                <a:moveTo>
                  <a:pt x="0" y="0"/>
                </a:moveTo>
                <a:cubicBezTo>
                  <a:pt x="267322" y="15284"/>
                  <a:pt x="415388" y="-21048"/>
                  <a:pt x="569831" y="0"/>
                </a:cubicBezTo>
                <a:cubicBezTo>
                  <a:pt x="724274" y="21048"/>
                  <a:pt x="769333" y="-2353"/>
                  <a:pt x="922584" y="0"/>
                </a:cubicBezTo>
                <a:cubicBezTo>
                  <a:pt x="1075835" y="2353"/>
                  <a:pt x="1399490" y="-145"/>
                  <a:pt x="1818033" y="0"/>
                </a:cubicBezTo>
                <a:cubicBezTo>
                  <a:pt x="2236576" y="145"/>
                  <a:pt x="2145330" y="5482"/>
                  <a:pt x="2387864" y="0"/>
                </a:cubicBezTo>
                <a:cubicBezTo>
                  <a:pt x="2630398" y="-5482"/>
                  <a:pt x="2793207" y="18487"/>
                  <a:pt x="2957695" y="0"/>
                </a:cubicBezTo>
                <a:cubicBezTo>
                  <a:pt x="3122183" y="-18487"/>
                  <a:pt x="3579141" y="19003"/>
                  <a:pt x="3853144" y="0"/>
                </a:cubicBezTo>
                <a:cubicBezTo>
                  <a:pt x="4127147" y="-19003"/>
                  <a:pt x="4209857" y="12211"/>
                  <a:pt x="4314436" y="0"/>
                </a:cubicBezTo>
                <a:cubicBezTo>
                  <a:pt x="4419015" y="-12211"/>
                  <a:pt x="4762459" y="-17220"/>
                  <a:pt x="5209885" y="0"/>
                </a:cubicBezTo>
                <a:cubicBezTo>
                  <a:pt x="5657311" y="17220"/>
                  <a:pt x="5692663" y="-3290"/>
                  <a:pt x="6105335" y="0"/>
                </a:cubicBezTo>
                <a:cubicBezTo>
                  <a:pt x="6518007" y="3290"/>
                  <a:pt x="6455516" y="-5124"/>
                  <a:pt x="6783705" y="0"/>
                </a:cubicBezTo>
                <a:cubicBezTo>
                  <a:pt x="7111894" y="5124"/>
                  <a:pt x="7441941" y="-17829"/>
                  <a:pt x="7679154" y="0"/>
                </a:cubicBezTo>
                <a:cubicBezTo>
                  <a:pt x="7916367" y="17829"/>
                  <a:pt x="8102967" y="-24363"/>
                  <a:pt x="8248985" y="0"/>
                </a:cubicBezTo>
                <a:cubicBezTo>
                  <a:pt x="8395003" y="24363"/>
                  <a:pt x="8552393" y="25505"/>
                  <a:pt x="8818817" y="0"/>
                </a:cubicBezTo>
                <a:cubicBezTo>
                  <a:pt x="9085241" y="-25505"/>
                  <a:pt x="9411308" y="38000"/>
                  <a:pt x="9605726" y="0"/>
                </a:cubicBezTo>
                <a:cubicBezTo>
                  <a:pt x="9800144" y="-38000"/>
                  <a:pt x="10006468" y="-25741"/>
                  <a:pt x="10175558" y="0"/>
                </a:cubicBezTo>
                <a:cubicBezTo>
                  <a:pt x="10344648" y="25741"/>
                  <a:pt x="10696282" y="695"/>
                  <a:pt x="10853928" y="0"/>
                </a:cubicBezTo>
                <a:cubicBezTo>
                  <a:pt x="10853521" y="8690"/>
                  <a:pt x="10853774" y="14141"/>
                  <a:pt x="10853928" y="18288"/>
                </a:cubicBezTo>
                <a:cubicBezTo>
                  <a:pt x="10608124" y="24255"/>
                  <a:pt x="10343415" y="22307"/>
                  <a:pt x="10067018" y="18288"/>
                </a:cubicBezTo>
                <a:cubicBezTo>
                  <a:pt x="9790621" y="14270"/>
                  <a:pt x="9843266" y="3564"/>
                  <a:pt x="9714266" y="18288"/>
                </a:cubicBezTo>
                <a:cubicBezTo>
                  <a:pt x="9585266" y="33012"/>
                  <a:pt x="9379484" y="1875"/>
                  <a:pt x="9252974" y="18288"/>
                </a:cubicBezTo>
                <a:cubicBezTo>
                  <a:pt x="9126464" y="34701"/>
                  <a:pt x="8580678" y="-4904"/>
                  <a:pt x="8357525" y="18288"/>
                </a:cubicBezTo>
                <a:cubicBezTo>
                  <a:pt x="8134372" y="41480"/>
                  <a:pt x="7903199" y="26458"/>
                  <a:pt x="7679154" y="18288"/>
                </a:cubicBezTo>
                <a:cubicBezTo>
                  <a:pt x="7455109" y="10118"/>
                  <a:pt x="7435944" y="27109"/>
                  <a:pt x="7217862" y="18288"/>
                </a:cubicBezTo>
                <a:cubicBezTo>
                  <a:pt x="6999780" y="9467"/>
                  <a:pt x="6680409" y="18985"/>
                  <a:pt x="6539492" y="18288"/>
                </a:cubicBezTo>
                <a:cubicBezTo>
                  <a:pt x="6398575" y="17592"/>
                  <a:pt x="6312077" y="33018"/>
                  <a:pt x="6186739" y="18288"/>
                </a:cubicBezTo>
                <a:cubicBezTo>
                  <a:pt x="6061401" y="3558"/>
                  <a:pt x="5947033" y="12075"/>
                  <a:pt x="5833986" y="18288"/>
                </a:cubicBezTo>
                <a:cubicBezTo>
                  <a:pt x="5720939" y="24501"/>
                  <a:pt x="5482226" y="8586"/>
                  <a:pt x="5155616" y="18288"/>
                </a:cubicBezTo>
                <a:cubicBezTo>
                  <a:pt x="4829006" y="27991"/>
                  <a:pt x="4841274" y="29316"/>
                  <a:pt x="4694324" y="18288"/>
                </a:cubicBezTo>
                <a:cubicBezTo>
                  <a:pt x="4547374" y="7260"/>
                  <a:pt x="4077675" y="7013"/>
                  <a:pt x="3907414" y="18288"/>
                </a:cubicBezTo>
                <a:cubicBezTo>
                  <a:pt x="3737153" y="29564"/>
                  <a:pt x="3538393" y="21630"/>
                  <a:pt x="3446122" y="18288"/>
                </a:cubicBezTo>
                <a:cubicBezTo>
                  <a:pt x="3353851" y="14946"/>
                  <a:pt x="2990320" y="-8091"/>
                  <a:pt x="2659212" y="18288"/>
                </a:cubicBezTo>
                <a:cubicBezTo>
                  <a:pt x="2328104" y="44667"/>
                  <a:pt x="2427653" y="9607"/>
                  <a:pt x="2306460" y="18288"/>
                </a:cubicBezTo>
                <a:cubicBezTo>
                  <a:pt x="2185267" y="26969"/>
                  <a:pt x="1719763" y="3717"/>
                  <a:pt x="1519550" y="18288"/>
                </a:cubicBezTo>
                <a:cubicBezTo>
                  <a:pt x="1319337" y="32860"/>
                  <a:pt x="1167371" y="17040"/>
                  <a:pt x="1058258" y="18288"/>
                </a:cubicBezTo>
                <a:cubicBezTo>
                  <a:pt x="949145" y="19536"/>
                  <a:pt x="780234" y="31447"/>
                  <a:pt x="705505" y="18288"/>
                </a:cubicBezTo>
                <a:cubicBezTo>
                  <a:pt x="630776" y="5129"/>
                  <a:pt x="215796" y="30056"/>
                  <a:pt x="0" y="18288"/>
                </a:cubicBezTo>
                <a:cubicBezTo>
                  <a:pt x="-53" y="11301"/>
                  <a:pt x="-649" y="7756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F989EC5-8729-B685-C48C-4E20853FB9B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929384"/>
            <a:ext cx="10515600" cy="4251960"/>
          </a:xfrm>
        </p:spPr>
        <p:txBody>
          <a:bodyPr>
            <a:normAutofit/>
          </a:bodyPr>
          <a:lstStyle/>
          <a:p>
            <a:r>
              <a:rPr lang="en-US" sz="2200"/>
              <a:t>The Data</a:t>
            </a:r>
          </a:p>
          <a:p>
            <a:r>
              <a:rPr lang="en-US" sz="2200"/>
              <a:t>Filtering for Cinderella candidates left us with an imbalanced dataset, since Cinderella seeds are unlikely.</a:t>
            </a:r>
          </a:p>
          <a:p>
            <a:endParaRPr lang="en-US" sz="2200"/>
          </a:p>
          <a:p>
            <a:r>
              <a:rPr lang="en-US" sz="2200"/>
              <a:t>Model Selection and Tuning: </a:t>
            </a:r>
          </a:p>
          <a:p>
            <a:r>
              <a:rPr lang="en-US" sz="2200"/>
              <a:t>Evaluation Metric: Rather than Accuracy we used PC-AUC and F1-Score to account for this.</a:t>
            </a:r>
          </a:p>
          <a:p>
            <a:r>
              <a:rPr lang="en-US" sz="2200"/>
              <a:t>Baseline Random Forest struggled with recall (0.306).</a:t>
            </a:r>
          </a:p>
          <a:p>
            <a:r>
              <a:rPr lang="en-US" sz="2200"/>
              <a:t>XGBoost largely improved recall (0.6861)</a:t>
            </a:r>
          </a:p>
        </p:txBody>
      </p:sp>
    </p:spTree>
    <p:extLst>
      <p:ext uri="{BB962C8B-B14F-4D97-AF65-F5344CB8AC3E}">
        <p14:creationId xmlns:p14="http://schemas.microsoft.com/office/powerpoint/2010/main" val="1621231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6" name="Rectangle 15">
            <a:extLst>
              <a:ext uri="{FF2B5EF4-FFF2-40B4-BE49-F238E27FC236}">
                <a16:creationId xmlns:a16="http://schemas.microsoft.com/office/drawing/2014/main" id="{5AC1364A-3E3D-4F0D-8776-78AF3A270DD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0F5C119-2DAB-CFB8-E012-BE2734912C3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97501" y="329184"/>
            <a:ext cx="6755626" cy="1783080"/>
          </a:xfrm>
        </p:spPr>
        <p:txBody>
          <a:bodyPr anchor="b">
            <a:normAutofit/>
          </a:bodyPr>
          <a:lstStyle/>
          <a:p>
            <a:r>
              <a:rPr lang="en-US" sz="5400"/>
              <a:t>Unsupervised Anomaly Detection 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DCA9E1D-D4EC-F3E5-1F5E-5B0D5B8ADE0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0040" y="789645"/>
            <a:ext cx="4014216" cy="2328245"/>
          </a:xfrm>
          <a:prstGeom prst="rect">
            <a:avLst/>
          </a:prstGeom>
        </p:spPr>
      </p:pic>
      <p:sp>
        <p:nvSpPr>
          <p:cNvPr id="17" name="sketchy line">
            <a:extLst>
              <a:ext uri="{FF2B5EF4-FFF2-40B4-BE49-F238E27FC236}">
                <a16:creationId xmlns:a16="http://schemas.microsoft.com/office/drawing/2014/main" id="{3FCFB1DE-0B7E-48CC-BA90-B2AB0889F9D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797494" y="2395728"/>
            <a:ext cx="4243589" cy="18288"/>
          </a:xfrm>
          <a:custGeom>
            <a:avLst/>
            <a:gdLst>
              <a:gd name="csX0" fmla="*/ 0 w 4243589"/>
              <a:gd name="csY0" fmla="*/ 0 h 18288"/>
              <a:gd name="csX1" fmla="*/ 478919 w 4243589"/>
              <a:gd name="csY1" fmla="*/ 0 h 18288"/>
              <a:gd name="csX2" fmla="*/ 957839 w 4243589"/>
              <a:gd name="csY2" fmla="*/ 0 h 18288"/>
              <a:gd name="csX3" fmla="*/ 1521630 w 4243589"/>
              <a:gd name="csY3" fmla="*/ 0 h 18288"/>
              <a:gd name="csX4" fmla="*/ 2212729 w 4243589"/>
              <a:gd name="csY4" fmla="*/ 0 h 18288"/>
              <a:gd name="csX5" fmla="*/ 2734084 w 4243589"/>
              <a:gd name="csY5" fmla="*/ 0 h 18288"/>
              <a:gd name="csX6" fmla="*/ 3255439 w 4243589"/>
              <a:gd name="csY6" fmla="*/ 0 h 18288"/>
              <a:gd name="csX7" fmla="*/ 4243589 w 4243589"/>
              <a:gd name="csY7" fmla="*/ 0 h 18288"/>
              <a:gd name="csX8" fmla="*/ 4243589 w 4243589"/>
              <a:gd name="csY8" fmla="*/ 18288 h 18288"/>
              <a:gd name="csX9" fmla="*/ 3594926 w 4243589"/>
              <a:gd name="csY9" fmla="*/ 18288 h 18288"/>
              <a:gd name="csX10" fmla="*/ 3073571 w 4243589"/>
              <a:gd name="csY10" fmla="*/ 18288 h 18288"/>
              <a:gd name="csX11" fmla="*/ 2552216 w 4243589"/>
              <a:gd name="csY11" fmla="*/ 18288 h 18288"/>
              <a:gd name="csX12" fmla="*/ 1903553 w 4243589"/>
              <a:gd name="csY12" fmla="*/ 18288 h 18288"/>
              <a:gd name="csX13" fmla="*/ 1212454 w 4243589"/>
              <a:gd name="csY13" fmla="*/ 18288 h 18288"/>
              <a:gd name="csX14" fmla="*/ 733535 w 4243589"/>
              <a:gd name="csY14" fmla="*/ 18288 h 18288"/>
              <a:gd name="csX15" fmla="*/ 0 w 4243589"/>
              <a:gd name="csY15" fmla="*/ 18288 h 18288"/>
              <a:gd name="csX16" fmla="*/ 0 w 4243589"/>
              <a:gd name="csY16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</a:cxnLst>
            <a:rect l="l" t="t" r="r" b="b"/>
            <a:pathLst>
              <a:path w="4243589" h="18288" fill="none" extrusionOk="0">
                <a:moveTo>
                  <a:pt x="0" y="0"/>
                </a:moveTo>
                <a:cubicBezTo>
                  <a:pt x="213395" y="-21006"/>
                  <a:pt x="307421" y="-18116"/>
                  <a:pt x="478919" y="0"/>
                </a:cubicBezTo>
                <a:cubicBezTo>
                  <a:pt x="650417" y="18116"/>
                  <a:pt x="831092" y="-21237"/>
                  <a:pt x="957839" y="0"/>
                </a:cubicBezTo>
                <a:cubicBezTo>
                  <a:pt x="1084586" y="21237"/>
                  <a:pt x="1301682" y="25124"/>
                  <a:pt x="1521630" y="0"/>
                </a:cubicBezTo>
                <a:cubicBezTo>
                  <a:pt x="1741578" y="-25124"/>
                  <a:pt x="1970269" y="-29139"/>
                  <a:pt x="2212729" y="0"/>
                </a:cubicBezTo>
                <a:cubicBezTo>
                  <a:pt x="2455189" y="29139"/>
                  <a:pt x="2558847" y="-4796"/>
                  <a:pt x="2734084" y="0"/>
                </a:cubicBezTo>
                <a:cubicBezTo>
                  <a:pt x="2909321" y="4796"/>
                  <a:pt x="3097217" y="-13409"/>
                  <a:pt x="3255439" y="0"/>
                </a:cubicBezTo>
                <a:cubicBezTo>
                  <a:pt x="3413662" y="13409"/>
                  <a:pt x="3979999" y="-10121"/>
                  <a:pt x="4243589" y="0"/>
                </a:cubicBezTo>
                <a:cubicBezTo>
                  <a:pt x="4244484" y="8974"/>
                  <a:pt x="4243043" y="9359"/>
                  <a:pt x="4243589" y="18288"/>
                </a:cubicBezTo>
                <a:cubicBezTo>
                  <a:pt x="4058777" y="31246"/>
                  <a:pt x="3910348" y="3158"/>
                  <a:pt x="3594926" y="18288"/>
                </a:cubicBezTo>
                <a:cubicBezTo>
                  <a:pt x="3279504" y="33418"/>
                  <a:pt x="3319955" y="-3977"/>
                  <a:pt x="3073571" y="18288"/>
                </a:cubicBezTo>
                <a:cubicBezTo>
                  <a:pt x="2827187" y="40553"/>
                  <a:pt x="2767387" y="1863"/>
                  <a:pt x="2552216" y="18288"/>
                </a:cubicBezTo>
                <a:cubicBezTo>
                  <a:pt x="2337046" y="34713"/>
                  <a:pt x="2181871" y="19527"/>
                  <a:pt x="1903553" y="18288"/>
                </a:cubicBezTo>
                <a:cubicBezTo>
                  <a:pt x="1625235" y="17049"/>
                  <a:pt x="1557672" y="24174"/>
                  <a:pt x="1212454" y="18288"/>
                </a:cubicBezTo>
                <a:cubicBezTo>
                  <a:pt x="867236" y="12402"/>
                  <a:pt x="874382" y="15627"/>
                  <a:pt x="733535" y="18288"/>
                </a:cubicBezTo>
                <a:cubicBezTo>
                  <a:pt x="592688" y="20949"/>
                  <a:pt x="183477" y="14753"/>
                  <a:pt x="0" y="18288"/>
                </a:cubicBezTo>
                <a:cubicBezTo>
                  <a:pt x="-229" y="14222"/>
                  <a:pt x="509" y="5816"/>
                  <a:pt x="0" y="0"/>
                </a:cubicBezTo>
                <a:close/>
              </a:path>
              <a:path w="4243589" h="18288" stroke="0" extrusionOk="0">
                <a:moveTo>
                  <a:pt x="0" y="0"/>
                </a:moveTo>
                <a:cubicBezTo>
                  <a:pt x="143690" y="16630"/>
                  <a:pt x="266667" y="14847"/>
                  <a:pt x="521355" y="0"/>
                </a:cubicBezTo>
                <a:cubicBezTo>
                  <a:pt x="776043" y="-14847"/>
                  <a:pt x="814491" y="-17363"/>
                  <a:pt x="1000275" y="0"/>
                </a:cubicBezTo>
                <a:cubicBezTo>
                  <a:pt x="1186059" y="17363"/>
                  <a:pt x="1352504" y="-23507"/>
                  <a:pt x="1521630" y="0"/>
                </a:cubicBezTo>
                <a:cubicBezTo>
                  <a:pt x="1690756" y="23507"/>
                  <a:pt x="1889525" y="5871"/>
                  <a:pt x="2127857" y="0"/>
                </a:cubicBezTo>
                <a:cubicBezTo>
                  <a:pt x="2366189" y="-5871"/>
                  <a:pt x="2620628" y="-27997"/>
                  <a:pt x="2776520" y="0"/>
                </a:cubicBezTo>
                <a:cubicBezTo>
                  <a:pt x="2932412" y="27997"/>
                  <a:pt x="3131683" y="-25073"/>
                  <a:pt x="3467618" y="0"/>
                </a:cubicBezTo>
                <a:cubicBezTo>
                  <a:pt x="3803553" y="25073"/>
                  <a:pt x="4017371" y="3071"/>
                  <a:pt x="4243589" y="0"/>
                </a:cubicBezTo>
                <a:cubicBezTo>
                  <a:pt x="4243134" y="6162"/>
                  <a:pt x="4243492" y="11775"/>
                  <a:pt x="4243589" y="18288"/>
                </a:cubicBezTo>
                <a:cubicBezTo>
                  <a:pt x="4017834" y="-5779"/>
                  <a:pt x="3834586" y="13376"/>
                  <a:pt x="3594926" y="18288"/>
                </a:cubicBezTo>
                <a:cubicBezTo>
                  <a:pt x="3355266" y="23200"/>
                  <a:pt x="3204179" y="2869"/>
                  <a:pt x="2903827" y="18288"/>
                </a:cubicBezTo>
                <a:cubicBezTo>
                  <a:pt x="2603475" y="33707"/>
                  <a:pt x="2526187" y="46187"/>
                  <a:pt x="2212729" y="18288"/>
                </a:cubicBezTo>
                <a:cubicBezTo>
                  <a:pt x="1899271" y="-9611"/>
                  <a:pt x="1966289" y="29692"/>
                  <a:pt x="1733809" y="18288"/>
                </a:cubicBezTo>
                <a:cubicBezTo>
                  <a:pt x="1501329" y="6884"/>
                  <a:pt x="1343612" y="12492"/>
                  <a:pt x="1085146" y="18288"/>
                </a:cubicBezTo>
                <a:cubicBezTo>
                  <a:pt x="826680" y="24084"/>
                  <a:pt x="778184" y="35607"/>
                  <a:pt x="521355" y="18288"/>
                </a:cubicBezTo>
                <a:cubicBezTo>
                  <a:pt x="264526" y="969"/>
                  <a:pt x="120277" y="4268"/>
                  <a:pt x="0" y="18288"/>
                </a:cubicBezTo>
                <a:cubicBezTo>
                  <a:pt x="766" y="10800"/>
                  <a:pt x="-457" y="8180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2727557108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8872E0E6-1585-7902-E2A7-A0E9BD09C84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2498" y="4149598"/>
            <a:ext cx="3851012" cy="2098802"/>
          </a:xfrm>
          <a:prstGeom prst="rect">
            <a:avLst/>
          </a:prstGeom>
        </p:spPr>
      </p:pic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BE73496-2146-1B47-AE02-B844407BC33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797494" y="2706624"/>
            <a:ext cx="6755626" cy="3483864"/>
          </a:xfrm>
        </p:spPr>
        <p:txBody>
          <a:bodyPr>
            <a:normAutofit/>
          </a:bodyPr>
          <a:lstStyle/>
          <a:p>
            <a:r>
              <a:rPr lang="en-US" sz="1700"/>
              <a:t>Hypothesis: Cinderellas would be identified as distinct outliers among other low seeded teams.</a:t>
            </a:r>
          </a:p>
          <a:p>
            <a:endParaRPr lang="en-US" sz="1700"/>
          </a:p>
          <a:p>
            <a:r>
              <a:rPr lang="en-US" sz="1700"/>
              <a:t>Reality: Isolation Forest showed that Cinderellas were mostly statistically normal to other lower ranked seeds and lacked significant variance.</a:t>
            </a:r>
          </a:p>
          <a:p>
            <a:endParaRPr lang="en-US" sz="1700"/>
          </a:p>
          <a:p>
            <a:r>
              <a:rPr lang="en-US" sz="1700"/>
              <a:t>However, the Gaussian Mixed Model (GMM) was able to group teams into 4 distinct archetypes. It successfully grouped 82% of historical Cinderella teams into a high performing archetype (Cluster 2) where many higher ranked teams are. This suggests that they distinct enough to be identified as different from the average lower seed.</a:t>
            </a:r>
          </a:p>
        </p:txBody>
      </p:sp>
    </p:spTree>
    <p:extLst>
      <p:ext uri="{BB962C8B-B14F-4D97-AF65-F5344CB8AC3E}">
        <p14:creationId xmlns:p14="http://schemas.microsoft.com/office/powerpoint/2010/main" val="214969598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F1C32AE-3699-A024-B553-BA2A5FC17B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Model Results &amp; Performance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2B64E96-F4EA-2976-C3B9-4DDF488B519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Ultimately, despite our hypothesis, our XGBoost model still struggled to consistently identify Cinderella teams. </a:t>
            </a:r>
          </a:p>
          <a:p>
            <a:endParaRPr lang="en-US" dirty="0"/>
          </a:p>
          <a:p>
            <a:r>
              <a:rPr lang="en-US" dirty="0"/>
              <a:t>While it performed better than a random guess, it wasn’t drastically better. </a:t>
            </a:r>
          </a:p>
        </p:txBody>
      </p:sp>
    </p:spTree>
    <p:extLst>
      <p:ext uri="{BB962C8B-B14F-4D97-AF65-F5344CB8AC3E}">
        <p14:creationId xmlns:p14="http://schemas.microsoft.com/office/powerpoint/2010/main" val="374587630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1" name="Rectangle 20">
            <a:extLst>
              <a:ext uri="{FF2B5EF4-FFF2-40B4-BE49-F238E27FC236}">
                <a16:creationId xmlns:a16="http://schemas.microsoft.com/office/drawing/2014/main" id="{6F5A5072-7B47-4D32-B52A-4EBBF590B8A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9715DAF0-AE1B-46C9-8A6B-DB2AA05AB91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>
            <a:off x="-2" y="-22693"/>
            <a:ext cx="12191999" cy="4374129"/>
          </a:xfrm>
          <a:prstGeom prst="rect">
            <a:avLst/>
          </a:prstGeom>
          <a:gradFill>
            <a:gsLst>
              <a:gs pos="0">
                <a:schemeClr val="accent1">
                  <a:lumMod val="75000"/>
                </a:schemeClr>
              </a:gs>
              <a:gs pos="100000">
                <a:srgbClr val="000000"/>
              </a:gs>
            </a:gsLst>
            <a:lin ang="15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6016219D-510E-4184-9090-6D5578A87BD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3908719" y="-3931841"/>
            <a:ext cx="4374557" cy="12192000"/>
          </a:xfrm>
          <a:prstGeom prst="rect">
            <a:avLst/>
          </a:prstGeom>
          <a:gradFill>
            <a:gsLst>
              <a:gs pos="40000">
                <a:schemeClr val="accent1">
                  <a:alpha val="0"/>
                </a:schemeClr>
              </a:gs>
              <a:gs pos="100000">
                <a:schemeClr val="accent1">
                  <a:lumMod val="75000"/>
                  <a:alpha val="52000"/>
                </a:schemeClr>
              </a:gs>
            </a:gsLst>
            <a:lin ang="2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AFF4A713-7B75-4B21-90D7-5AB19547C72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4136696" y="-3703868"/>
            <a:ext cx="4374128" cy="11736479"/>
          </a:xfrm>
          <a:prstGeom prst="rect">
            <a:avLst/>
          </a:prstGeom>
          <a:gradFill>
            <a:gsLst>
              <a:gs pos="17000">
                <a:schemeClr val="accent1">
                  <a:alpha val="0"/>
                </a:schemeClr>
              </a:gs>
              <a:gs pos="100000">
                <a:srgbClr val="000000">
                  <a:alpha val="37000"/>
                </a:srgbClr>
              </a:gs>
            </a:gsLst>
            <a:lin ang="7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DC631C0B-6DA6-4E57-8231-CE32B3434A7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5" y="-22690"/>
            <a:ext cx="8542485" cy="4374126"/>
          </a:xfrm>
          <a:prstGeom prst="rect">
            <a:avLst/>
          </a:prstGeom>
          <a:gradFill>
            <a:gsLst>
              <a:gs pos="0">
                <a:schemeClr val="accent1">
                  <a:lumMod val="50000"/>
                  <a:alpha val="0"/>
                </a:schemeClr>
              </a:gs>
              <a:gs pos="100000">
                <a:srgbClr val="000000">
                  <a:alpha val="25000"/>
                </a:srgbClr>
              </a:gs>
            </a:gsLst>
            <a:lin ang="18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Freeform: Shape 30">
            <a:extLst>
              <a:ext uri="{FF2B5EF4-FFF2-40B4-BE49-F238E27FC236}">
                <a16:creationId xmlns:a16="http://schemas.microsoft.com/office/drawing/2014/main" id="{C29501E6-A978-4A61-9689-9085AF97A53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2508972">
            <a:off x="5945431" y="-1032053"/>
            <a:ext cx="4990147" cy="4439131"/>
          </a:xfrm>
          <a:custGeom>
            <a:avLst/>
            <a:gdLst>
              <a:gd name="connsiteX0" fmla="*/ 4990147 w 4990147"/>
              <a:gd name="connsiteY0" fmla="*/ 2229378 h 4439131"/>
              <a:gd name="connsiteX1" fmla="*/ 917384 w 4990147"/>
              <a:gd name="connsiteY1" fmla="*/ 4439131 h 4439131"/>
              <a:gd name="connsiteX2" fmla="*/ 910814 w 4990147"/>
              <a:gd name="connsiteY2" fmla="*/ 4434219 h 4439131"/>
              <a:gd name="connsiteX3" fmla="*/ 0 w 4990147"/>
              <a:gd name="connsiteY3" fmla="*/ 2502877 h 4439131"/>
              <a:gd name="connsiteX4" fmla="*/ 2502877 w 4990147"/>
              <a:gd name="connsiteY4" fmla="*/ 0 h 4439131"/>
              <a:gd name="connsiteX5" fmla="*/ 4954904 w 4990147"/>
              <a:gd name="connsiteY5" fmla="*/ 1998460 h 443913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4990147" h="4439131">
                <a:moveTo>
                  <a:pt x="4990147" y="2229378"/>
                </a:moveTo>
                <a:lnTo>
                  <a:pt x="917384" y="4439131"/>
                </a:lnTo>
                <a:lnTo>
                  <a:pt x="910814" y="4434219"/>
                </a:lnTo>
                <a:cubicBezTo>
                  <a:pt x="354557" y="3975154"/>
                  <a:pt x="0" y="3280421"/>
                  <a:pt x="0" y="2502877"/>
                </a:cubicBezTo>
                <a:cubicBezTo>
                  <a:pt x="0" y="1120576"/>
                  <a:pt x="1120576" y="0"/>
                  <a:pt x="2502877" y="0"/>
                </a:cubicBezTo>
                <a:cubicBezTo>
                  <a:pt x="3712390" y="0"/>
                  <a:pt x="4721520" y="857941"/>
                  <a:pt x="4954904" y="1998460"/>
                </a:cubicBezTo>
                <a:close/>
              </a:path>
            </a:pathLst>
          </a:custGeom>
          <a:gradFill>
            <a:gsLst>
              <a:gs pos="0">
                <a:schemeClr val="accent1">
                  <a:alpha val="22000"/>
                </a:schemeClr>
              </a:gs>
              <a:gs pos="87000">
                <a:schemeClr val="accent1">
                  <a:lumMod val="60000"/>
                  <a:lumOff val="40000"/>
                  <a:alpha val="2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9D214D3-9699-E0E2-8B10-348A820E5F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14824" y="735106"/>
            <a:ext cx="10053763" cy="2928470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sz="4800" kern="120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Demonstration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F6E0871-4D7A-8150-B00F-8D9A43CE669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50682" y="4870824"/>
            <a:ext cx="10005951" cy="1458258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u="sng">
                <a:hlinkClick r:id="rId2"/>
              </a:rPr>
              <a:t>https://stat486final.streamlit.app/</a:t>
            </a:r>
            <a:r>
              <a:rPr lang="en-US" u="sng"/>
              <a:t> 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7390873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iterate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7" name="Rectangle 16">
            <a:extLst>
              <a:ext uri="{FF2B5EF4-FFF2-40B4-BE49-F238E27FC236}">
                <a16:creationId xmlns:a16="http://schemas.microsoft.com/office/drawing/2014/main" id="{BACC6370-2D7E-4714-9D71-7542949D7D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F68B3F68-107C-434F-AA38-110D5EA91B8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2" y="0"/>
            <a:ext cx="12191998" cy="2170031"/>
          </a:xfrm>
          <a:prstGeom prst="rect">
            <a:avLst/>
          </a:prstGeom>
          <a:gradFill>
            <a:gsLst>
              <a:gs pos="0">
                <a:srgbClr val="000000">
                  <a:alpha val="96000"/>
                </a:srgbClr>
              </a:gs>
              <a:gs pos="100000">
                <a:schemeClr val="accent1">
                  <a:lumMod val="75000"/>
                </a:schemeClr>
              </a:gs>
            </a:gsLst>
            <a:lin ang="19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AAD0DBB9-1A4B-4391-81D4-CB19F9AB918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8082819" y="0"/>
            <a:ext cx="4097211" cy="2170661"/>
          </a:xfrm>
          <a:prstGeom prst="rect">
            <a:avLst/>
          </a:prstGeom>
          <a:gradFill>
            <a:gsLst>
              <a:gs pos="19000">
                <a:schemeClr val="accent1">
                  <a:lumMod val="50000"/>
                  <a:alpha val="68000"/>
                </a:schemeClr>
              </a:gs>
              <a:gs pos="100000">
                <a:schemeClr val="accent1">
                  <a:alpha val="48000"/>
                </a:schemeClr>
              </a:gs>
            </a:gsLst>
            <a:lin ang="19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063BBA22-50EA-4C4D-BE05-F1CE4E63AA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 flipH="1">
            <a:off x="5010646" y="-5010043"/>
            <a:ext cx="2170709" cy="12192000"/>
          </a:xfrm>
          <a:prstGeom prst="rect">
            <a:avLst/>
          </a:prstGeom>
          <a:gradFill>
            <a:gsLst>
              <a:gs pos="23000">
                <a:schemeClr val="accent1">
                  <a:lumMod val="75000"/>
                  <a:alpha val="16000"/>
                </a:schemeClr>
              </a:gs>
              <a:gs pos="99000">
                <a:srgbClr val="000000">
                  <a:alpha val="45000"/>
                </a:srgbClr>
              </a:gs>
            </a:gsLst>
            <a:lin ang="21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5B09F6F-DC3E-B1B0-5170-853B3CCC36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83564" y="348865"/>
            <a:ext cx="9718111" cy="1576446"/>
          </a:xfrm>
        </p:spPr>
        <p:txBody>
          <a:bodyPr anchor="ctr">
            <a:normAutofit/>
          </a:bodyPr>
          <a:lstStyle/>
          <a:p>
            <a:r>
              <a:rPr lang="en-US" sz="4000">
                <a:solidFill>
                  <a:srgbClr val="FFFFFF"/>
                </a:solidFill>
              </a:rPr>
              <a:t>Conclusion and Takeaways</a:t>
            </a:r>
          </a:p>
        </p:txBody>
      </p:sp>
      <p:graphicFrame>
        <p:nvGraphicFramePr>
          <p:cNvPr id="21" name="Content Placeholder 2">
            <a:extLst>
              <a:ext uri="{FF2B5EF4-FFF2-40B4-BE49-F238E27FC236}">
                <a16:creationId xmlns:a16="http://schemas.microsoft.com/office/drawing/2014/main" id="{1148BF5E-FFD9-8F4D-3995-CFF3BEC6608A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376214265"/>
              </p:ext>
            </p:extLst>
          </p:nvPr>
        </p:nvGraphicFramePr>
        <p:xfrm>
          <a:off x="644056" y="2615979"/>
          <a:ext cx="10927829" cy="368940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252655032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47</TotalTime>
  <Words>492</Words>
  <Application>Microsoft Office PowerPoint</Application>
  <PresentationFormat>Widescreen</PresentationFormat>
  <Paragraphs>57</Paragraphs>
  <Slides>10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5" baseType="lpstr">
      <vt:lpstr>Aptos</vt:lpstr>
      <vt:lpstr>Aptos Display</vt:lpstr>
      <vt:lpstr>Arial</vt:lpstr>
      <vt:lpstr>Calibri</vt:lpstr>
      <vt:lpstr>Office Theme</vt:lpstr>
      <vt:lpstr>The Cinderella Problem</vt:lpstr>
      <vt:lpstr>Motivation and Hypothesis</vt:lpstr>
      <vt:lpstr>The Data</vt:lpstr>
      <vt:lpstr>Methodology</vt:lpstr>
      <vt:lpstr>Feature Importance</vt:lpstr>
      <vt:lpstr>Supervised Classification</vt:lpstr>
      <vt:lpstr>Unsupervised Anomaly Detection </vt:lpstr>
      <vt:lpstr>Model Results &amp; Performance</vt:lpstr>
      <vt:lpstr>Demonstration</vt:lpstr>
      <vt:lpstr>Conclusion and Takeaways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James Klein</dc:creator>
  <cp:lastModifiedBy>Anton Hinckley</cp:lastModifiedBy>
  <cp:revision>4</cp:revision>
  <dcterms:created xsi:type="dcterms:W3CDTF">2026-04-09T04:04:06Z</dcterms:created>
  <dcterms:modified xsi:type="dcterms:W3CDTF">2026-04-09T05:36:54Z</dcterms:modified>
</cp:coreProperties>
</file>