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9" d="100"/>
          <a:sy n="99" d="100"/>
        </p:scale>
        <p:origin x="60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A956502-3703-4132-AC03-69BF4A49396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9009838-8A56-4C48-8D68-4AD8D79DF724}">
      <dgm:prSet/>
      <dgm:spPr/>
      <dgm:t>
        <a:bodyPr/>
        <a:lstStyle/>
        <a:p>
          <a:r>
            <a:rPr lang="en-US"/>
            <a:t>We proved our hypothesis that unsupervised metrics could improve our supervised upset predictions over a baseline model (guess 50-50 model). </a:t>
          </a:r>
        </a:p>
      </dgm:t>
    </dgm:pt>
    <dgm:pt modelId="{B68A8A97-53A1-4D21-88EA-5BC5598D398E}" type="parTrans" cxnId="{B6FBF076-F4C4-44C2-A0DA-7AA76CB1202F}">
      <dgm:prSet/>
      <dgm:spPr/>
      <dgm:t>
        <a:bodyPr/>
        <a:lstStyle/>
        <a:p>
          <a:endParaRPr lang="en-US"/>
        </a:p>
      </dgm:t>
    </dgm:pt>
    <dgm:pt modelId="{78D8B892-685E-4781-A8B9-712ED1144157}" type="sibTrans" cxnId="{B6FBF076-F4C4-44C2-A0DA-7AA76CB1202F}">
      <dgm:prSet/>
      <dgm:spPr/>
      <dgm:t>
        <a:bodyPr/>
        <a:lstStyle/>
        <a:p>
          <a:endParaRPr lang="en-US"/>
        </a:p>
      </dgm:t>
    </dgm:pt>
    <dgm:pt modelId="{109213F9-8B9A-457D-9FFB-808957D78B5F}">
      <dgm:prSet/>
      <dgm:spPr/>
      <dgm:t>
        <a:bodyPr/>
        <a:lstStyle/>
        <a:p>
          <a:r>
            <a:rPr lang="en-US"/>
            <a:t>Statistically, Cinderella runs are uncommon and thus difficult to work with due to imbalanced data. </a:t>
          </a:r>
        </a:p>
      </dgm:t>
    </dgm:pt>
    <dgm:pt modelId="{3C61ED98-DEB5-4291-AD23-642F840DF32A}" type="parTrans" cxnId="{BE8156B5-980D-479E-92C2-DE10FCAFB347}">
      <dgm:prSet/>
      <dgm:spPr/>
      <dgm:t>
        <a:bodyPr/>
        <a:lstStyle/>
        <a:p>
          <a:endParaRPr lang="en-US"/>
        </a:p>
      </dgm:t>
    </dgm:pt>
    <dgm:pt modelId="{ABC96685-BD00-4EDD-A4D0-E3DCBEF54363}" type="sibTrans" cxnId="{BE8156B5-980D-479E-92C2-DE10FCAFB347}">
      <dgm:prSet/>
      <dgm:spPr/>
      <dgm:t>
        <a:bodyPr/>
        <a:lstStyle/>
        <a:p>
          <a:endParaRPr lang="en-US"/>
        </a:p>
      </dgm:t>
    </dgm:pt>
    <dgm:pt modelId="{2FB49948-87B9-44DB-AAEB-DA06F8F47BC2}">
      <dgm:prSet/>
      <dgm:spPr/>
      <dgm:t>
        <a:bodyPr/>
        <a:lstStyle/>
        <a:p>
          <a:r>
            <a:rPr lang="en-US"/>
            <a:t>However, by looking at efficiency profiles, ball security, and team consistency, we can find teams that are better teams than their seed might suggest.</a:t>
          </a:r>
        </a:p>
      </dgm:t>
    </dgm:pt>
    <dgm:pt modelId="{7D0F421E-0498-4A7B-9813-7B60A318EF65}" type="parTrans" cxnId="{71BF8781-1204-4E3D-B2B0-BCD19C74A20C}">
      <dgm:prSet/>
      <dgm:spPr/>
      <dgm:t>
        <a:bodyPr/>
        <a:lstStyle/>
        <a:p>
          <a:endParaRPr lang="en-US"/>
        </a:p>
      </dgm:t>
    </dgm:pt>
    <dgm:pt modelId="{D5AC4E4F-E97A-48C8-A764-79F9C9717A54}" type="sibTrans" cxnId="{71BF8781-1204-4E3D-B2B0-BCD19C74A20C}">
      <dgm:prSet/>
      <dgm:spPr/>
      <dgm:t>
        <a:bodyPr/>
        <a:lstStyle/>
        <a:p>
          <a:endParaRPr lang="en-US"/>
        </a:p>
      </dgm:t>
    </dgm:pt>
    <dgm:pt modelId="{ABB376B8-BEB4-4AC4-B6A8-44101DF5D20F}" type="pres">
      <dgm:prSet presAssocID="{9A956502-3703-4132-AC03-69BF4A49396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ECC08F2-C111-4885-9897-0D24AA2E0CE3}" type="pres">
      <dgm:prSet presAssocID="{C9009838-8A56-4C48-8D68-4AD8D79DF724}" presName="hierRoot1" presStyleCnt="0"/>
      <dgm:spPr/>
    </dgm:pt>
    <dgm:pt modelId="{AB6DC64C-51C1-4D8B-8DA6-3EA56830112D}" type="pres">
      <dgm:prSet presAssocID="{C9009838-8A56-4C48-8D68-4AD8D79DF724}" presName="composite" presStyleCnt="0"/>
      <dgm:spPr/>
    </dgm:pt>
    <dgm:pt modelId="{EC11D090-7354-4F4F-8F49-C5CD23AC06F8}" type="pres">
      <dgm:prSet presAssocID="{C9009838-8A56-4C48-8D68-4AD8D79DF724}" presName="background" presStyleLbl="node0" presStyleIdx="0" presStyleCnt="3"/>
      <dgm:spPr/>
    </dgm:pt>
    <dgm:pt modelId="{83D75567-D77F-4DB4-87F6-FB83F4389902}" type="pres">
      <dgm:prSet presAssocID="{C9009838-8A56-4C48-8D68-4AD8D79DF724}" presName="text" presStyleLbl="fgAcc0" presStyleIdx="0" presStyleCnt="3">
        <dgm:presLayoutVars>
          <dgm:chPref val="3"/>
        </dgm:presLayoutVars>
      </dgm:prSet>
      <dgm:spPr/>
    </dgm:pt>
    <dgm:pt modelId="{DB7C6BDC-9F00-462B-BC7C-3BDB3A80CA68}" type="pres">
      <dgm:prSet presAssocID="{C9009838-8A56-4C48-8D68-4AD8D79DF724}" presName="hierChild2" presStyleCnt="0"/>
      <dgm:spPr/>
    </dgm:pt>
    <dgm:pt modelId="{47B729FD-76A8-4F5C-A8FF-BCADDD98D2D7}" type="pres">
      <dgm:prSet presAssocID="{109213F9-8B9A-457D-9FFB-808957D78B5F}" presName="hierRoot1" presStyleCnt="0"/>
      <dgm:spPr/>
    </dgm:pt>
    <dgm:pt modelId="{40C9D482-E318-426B-BB60-6ECB5AE2DBFA}" type="pres">
      <dgm:prSet presAssocID="{109213F9-8B9A-457D-9FFB-808957D78B5F}" presName="composite" presStyleCnt="0"/>
      <dgm:spPr/>
    </dgm:pt>
    <dgm:pt modelId="{F76CC354-EC1C-4237-9AF7-E24C401081B9}" type="pres">
      <dgm:prSet presAssocID="{109213F9-8B9A-457D-9FFB-808957D78B5F}" presName="background" presStyleLbl="node0" presStyleIdx="1" presStyleCnt="3"/>
      <dgm:spPr/>
    </dgm:pt>
    <dgm:pt modelId="{7B0DCC16-14D9-453E-9DA2-75672FE1E2EF}" type="pres">
      <dgm:prSet presAssocID="{109213F9-8B9A-457D-9FFB-808957D78B5F}" presName="text" presStyleLbl="fgAcc0" presStyleIdx="1" presStyleCnt="3">
        <dgm:presLayoutVars>
          <dgm:chPref val="3"/>
        </dgm:presLayoutVars>
      </dgm:prSet>
      <dgm:spPr/>
    </dgm:pt>
    <dgm:pt modelId="{D2912189-F0C6-484B-B55F-AA8B6C73CAA4}" type="pres">
      <dgm:prSet presAssocID="{109213F9-8B9A-457D-9FFB-808957D78B5F}" presName="hierChild2" presStyleCnt="0"/>
      <dgm:spPr/>
    </dgm:pt>
    <dgm:pt modelId="{7C88710D-B3A2-4CC0-B117-D9EC087CF0C2}" type="pres">
      <dgm:prSet presAssocID="{2FB49948-87B9-44DB-AAEB-DA06F8F47BC2}" presName="hierRoot1" presStyleCnt="0"/>
      <dgm:spPr/>
    </dgm:pt>
    <dgm:pt modelId="{EEBCC283-BA11-45C6-A04A-0F018BDD6297}" type="pres">
      <dgm:prSet presAssocID="{2FB49948-87B9-44DB-AAEB-DA06F8F47BC2}" presName="composite" presStyleCnt="0"/>
      <dgm:spPr/>
    </dgm:pt>
    <dgm:pt modelId="{14FAEA80-420A-4DF9-8C71-47C47D8F56E9}" type="pres">
      <dgm:prSet presAssocID="{2FB49948-87B9-44DB-AAEB-DA06F8F47BC2}" presName="background" presStyleLbl="node0" presStyleIdx="2" presStyleCnt="3"/>
      <dgm:spPr/>
    </dgm:pt>
    <dgm:pt modelId="{581A08C7-F3DA-450D-A4A2-96E835EA8E24}" type="pres">
      <dgm:prSet presAssocID="{2FB49948-87B9-44DB-AAEB-DA06F8F47BC2}" presName="text" presStyleLbl="fgAcc0" presStyleIdx="2" presStyleCnt="3">
        <dgm:presLayoutVars>
          <dgm:chPref val="3"/>
        </dgm:presLayoutVars>
      </dgm:prSet>
      <dgm:spPr/>
    </dgm:pt>
    <dgm:pt modelId="{4B2266E5-EA19-4DC6-B8EA-B02FF3D06E67}" type="pres">
      <dgm:prSet presAssocID="{2FB49948-87B9-44DB-AAEB-DA06F8F47BC2}" presName="hierChild2" presStyleCnt="0"/>
      <dgm:spPr/>
    </dgm:pt>
  </dgm:ptLst>
  <dgm:cxnLst>
    <dgm:cxn modelId="{742B2D0D-FA11-49BD-AFB7-D4848993CF24}" type="presOf" srcId="{109213F9-8B9A-457D-9FFB-808957D78B5F}" destId="{7B0DCC16-14D9-453E-9DA2-75672FE1E2EF}" srcOrd="0" destOrd="0" presId="urn:microsoft.com/office/officeart/2005/8/layout/hierarchy1"/>
    <dgm:cxn modelId="{BD2D6E62-2716-4F5E-9774-BAC8421648B9}" type="presOf" srcId="{C9009838-8A56-4C48-8D68-4AD8D79DF724}" destId="{83D75567-D77F-4DB4-87F6-FB83F4389902}" srcOrd="0" destOrd="0" presId="urn:microsoft.com/office/officeart/2005/8/layout/hierarchy1"/>
    <dgm:cxn modelId="{B6FBF076-F4C4-44C2-A0DA-7AA76CB1202F}" srcId="{9A956502-3703-4132-AC03-69BF4A493969}" destId="{C9009838-8A56-4C48-8D68-4AD8D79DF724}" srcOrd="0" destOrd="0" parTransId="{B68A8A97-53A1-4D21-88EA-5BC5598D398E}" sibTransId="{78D8B892-685E-4781-A8B9-712ED1144157}"/>
    <dgm:cxn modelId="{71BF8781-1204-4E3D-B2B0-BCD19C74A20C}" srcId="{9A956502-3703-4132-AC03-69BF4A493969}" destId="{2FB49948-87B9-44DB-AAEB-DA06F8F47BC2}" srcOrd="2" destOrd="0" parTransId="{7D0F421E-0498-4A7B-9813-7B60A318EF65}" sibTransId="{D5AC4E4F-E97A-48C8-A764-79F9C9717A54}"/>
    <dgm:cxn modelId="{F470EE93-5581-4209-ABD0-5511B51915D5}" type="presOf" srcId="{9A956502-3703-4132-AC03-69BF4A493969}" destId="{ABB376B8-BEB4-4AC4-B6A8-44101DF5D20F}" srcOrd="0" destOrd="0" presId="urn:microsoft.com/office/officeart/2005/8/layout/hierarchy1"/>
    <dgm:cxn modelId="{BE8156B5-980D-479E-92C2-DE10FCAFB347}" srcId="{9A956502-3703-4132-AC03-69BF4A493969}" destId="{109213F9-8B9A-457D-9FFB-808957D78B5F}" srcOrd="1" destOrd="0" parTransId="{3C61ED98-DEB5-4291-AD23-642F840DF32A}" sibTransId="{ABC96685-BD00-4EDD-A4D0-E3DCBEF54363}"/>
    <dgm:cxn modelId="{8B31FEDB-C666-4549-A8DD-7DFBAF5CEA45}" type="presOf" srcId="{2FB49948-87B9-44DB-AAEB-DA06F8F47BC2}" destId="{581A08C7-F3DA-450D-A4A2-96E835EA8E24}" srcOrd="0" destOrd="0" presId="urn:microsoft.com/office/officeart/2005/8/layout/hierarchy1"/>
    <dgm:cxn modelId="{36A7A178-1634-4195-9342-C717722CEFD2}" type="presParOf" srcId="{ABB376B8-BEB4-4AC4-B6A8-44101DF5D20F}" destId="{6ECC08F2-C111-4885-9897-0D24AA2E0CE3}" srcOrd="0" destOrd="0" presId="urn:microsoft.com/office/officeart/2005/8/layout/hierarchy1"/>
    <dgm:cxn modelId="{7B59CBEA-DC39-4C2B-A5C0-1285E9888A7A}" type="presParOf" srcId="{6ECC08F2-C111-4885-9897-0D24AA2E0CE3}" destId="{AB6DC64C-51C1-4D8B-8DA6-3EA56830112D}" srcOrd="0" destOrd="0" presId="urn:microsoft.com/office/officeart/2005/8/layout/hierarchy1"/>
    <dgm:cxn modelId="{3DC503BA-DAC4-4844-823D-4FCE5426BCA8}" type="presParOf" srcId="{AB6DC64C-51C1-4D8B-8DA6-3EA56830112D}" destId="{EC11D090-7354-4F4F-8F49-C5CD23AC06F8}" srcOrd="0" destOrd="0" presId="urn:microsoft.com/office/officeart/2005/8/layout/hierarchy1"/>
    <dgm:cxn modelId="{F12AD088-4EA4-463C-A33B-D2879228B245}" type="presParOf" srcId="{AB6DC64C-51C1-4D8B-8DA6-3EA56830112D}" destId="{83D75567-D77F-4DB4-87F6-FB83F4389902}" srcOrd="1" destOrd="0" presId="urn:microsoft.com/office/officeart/2005/8/layout/hierarchy1"/>
    <dgm:cxn modelId="{3A27ABA7-7C72-4679-83BB-C818DC40BF43}" type="presParOf" srcId="{6ECC08F2-C111-4885-9897-0D24AA2E0CE3}" destId="{DB7C6BDC-9F00-462B-BC7C-3BDB3A80CA68}" srcOrd="1" destOrd="0" presId="urn:microsoft.com/office/officeart/2005/8/layout/hierarchy1"/>
    <dgm:cxn modelId="{CDA2AB2C-63CA-40B9-A5DA-C64B64803105}" type="presParOf" srcId="{ABB376B8-BEB4-4AC4-B6A8-44101DF5D20F}" destId="{47B729FD-76A8-4F5C-A8FF-BCADDD98D2D7}" srcOrd="1" destOrd="0" presId="urn:microsoft.com/office/officeart/2005/8/layout/hierarchy1"/>
    <dgm:cxn modelId="{ED01DA84-5D7D-41B3-9C08-F667D513A6B9}" type="presParOf" srcId="{47B729FD-76A8-4F5C-A8FF-BCADDD98D2D7}" destId="{40C9D482-E318-426B-BB60-6ECB5AE2DBFA}" srcOrd="0" destOrd="0" presId="urn:microsoft.com/office/officeart/2005/8/layout/hierarchy1"/>
    <dgm:cxn modelId="{8DCD5344-5556-4E78-947D-B5087470442C}" type="presParOf" srcId="{40C9D482-E318-426B-BB60-6ECB5AE2DBFA}" destId="{F76CC354-EC1C-4237-9AF7-E24C401081B9}" srcOrd="0" destOrd="0" presId="urn:microsoft.com/office/officeart/2005/8/layout/hierarchy1"/>
    <dgm:cxn modelId="{02D7FC1C-4EB6-4F5C-8717-16C0BD3ACDA0}" type="presParOf" srcId="{40C9D482-E318-426B-BB60-6ECB5AE2DBFA}" destId="{7B0DCC16-14D9-453E-9DA2-75672FE1E2EF}" srcOrd="1" destOrd="0" presId="urn:microsoft.com/office/officeart/2005/8/layout/hierarchy1"/>
    <dgm:cxn modelId="{5DB0650D-38E7-4885-B547-74B7468F8E3D}" type="presParOf" srcId="{47B729FD-76A8-4F5C-A8FF-BCADDD98D2D7}" destId="{D2912189-F0C6-484B-B55F-AA8B6C73CAA4}" srcOrd="1" destOrd="0" presId="urn:microsoft.com/office/officeart/2005/8/layout/hierarchy1"/>
    <dgm:cxn modelId="{BFEF920B-3EB6-483C-B8C6-A0A114D5698C}" type="presParOf" srcId="{ABB376B8-BEB4-4AC4-B6A8-44101DF5D20F}" destId="{7C88710D-B3A2-4CC0-B117-D9EC087CF0C2}" srcOrd="2" destOrd="0" presId="urn:microsoft.com/office/officeart/2005/8/layout/hierarchy1"/>
    <dgm:cxn modelId="{1EC57B49-41DA-44C7-A7E4-9B484D6F45E4}" type="presParOf" srcId="{7C88710D-B3A2-4CC0-B117-D9EC087CF0C2}" destId="{EEBCC283-BA11-45C6-A04A-0F018BDD6297}" srcOrd="0" destOrd="0" presId="urn:microsoft.com/office/officeart/2005/8/layout/hierarchy1"/>
    <dgm:cxn modelId="{03A3532D-E5C9-4CA4-9E57-CABE156D9701}" type="presParOf" srcId="{EEBCC283-BA11-45C6-A04A-0F018BDD6297}" destId="{14FAEA80-420A-4DF9-8C71-47C47D8F56E9}" srcOrd="0" destOrd="0" presId="urn:microsoft.com/office/officeart/2005/8/layout/hierarchy1"/>
    <dgm:cxn modelId="{28675178-FA03-48AF-9B11-8BADD381BAAD}" type="presParOf" srcId="{EEBCC283-BA11-45C6-A04A-0F018BDD6297}" destId="{581A08C7-F3DA-450D-A4A2-96E835EA8E24}" srcOrd="1" destOrd="0" presId="urn:microsoft.com/office/officeart/2005/8/layout/hierarchy1"/>
    <dgm:cxn modelId="{88A4F24B-FDC1-443B-9774-60149C5F8C12}" type="presParOf" srcId="{7C88710D-B3A2-4CC0-B117-D9EC087CF0C2}" destId="{4B2266E5-EA19-4DC6-B8EA-B02FF3D06E6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11D090-7354-4F4F-8F49-C5CD23AC06F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D75567-D77F-4DB4-87F6-FB83F4389902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We proved our hypothesis that unsupervised metrics could improve our supervised upset predictions over a baseline model (guess 50-50 model). </a:t>
          </a:r>
        </a:p>
      </dsp:txBody>
      <dsp:txXfrm>
        <a:off x="398656" y="1088253"/>
        <a:ext cx="2959127" cy="1837317"/>
      </dsp:txXfrm>
    </dsp:sp>
    <dsp:sp modelId="{F76CC354-EC1C-4237-9AF7-E24C401081B9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0DCC16-14D9-453E-9DA2-75672FE1E2EF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Statistically, Cinderella runs are uncommon and thus difficult to work with due to imbalanced data. </a:t>
          </a:r>
        </a:p>
      </dsp:txBody>
      <dsp:txXfrm>
        <a:off x="4155097" y="1088253"/>
        <a:ext cx="2959127" cy="1837317"/>
      </dsp:txXfrm>
    </dsp:sp>
    <dsp:sp modelId="{14FAEA80-420A-4DF9-8C71-47C47D8F56E9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1A08C7-F3DA-450D-A4A2-96E835EA8E2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However, by looking at efficiency profiles, ball security, and team consistency, we can find teams that are better teams than their seed might suggest.</a:t>
          </a:r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A21C1-4EF2-6182-0516-C5507165A7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420A7-99B6-93E8-2003-CCE062355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B376D-4595-D351-D6AE-2D80DE0D0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EF155-74E3-5188-F9CD-AC4E287C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06F4B-5152-9DD2-9B22-7D8C0E5DD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21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97646-5585-4ED3-075F-D0F55BA9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553B4-C23D-55DE-6947-6E731C744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FA9131-8DFA-8467-34B8-83302BD1C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66616-CEF1-D4EF-372E-AC2604985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47F67-981D-E228-4FDC-77721382A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95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23E6-CDA6-F40F-B767-0F4637FD5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2D7E-6E6E-907C-4FF9-AADADA23B1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D299D-B41F-B822-EB29-7D384B631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1CDB2-9C4C-481D-19EB-C14CD8D55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3CEDA-1669-4F75-39C1-3C9239615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274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03FB1-5DB2-7364-3D4E-92BD4E2DA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1FB98-9487-B1B9-11AB-27BD646F7C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0F478E-B159-049D-88DE-D38EBDED9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BDC59-86FA-95AC-8346-93E389C2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F7F50B-8875-8433-1D78-3587438A9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F39A49-2695-0C8D-D097-830DEC90E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834E1-E2D1-14D6-22CB-FC6932AC2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1EB33A-C34E-4F66-CE88-7FE085FBD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DCC15E-13EB-8C9C-EF89-265E526D56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BF1256-A58B-D48D-72D3-ECE2A29ACD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5082FA-2461-37C1-CC11-717558EBD0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A8E647-B1D4-56A8-51A1-F2024CEB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425C1E-2811-A157-DCE2-672914D07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C6FE74-F5EB-16BB-2721-26A69519D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60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90D90-E7C5-9364-3324-DF78814B0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7F7BE5-6CFA-99E5-1067-71057B5D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83F03D-1EF6-A5D5-D100-9BDFEE66A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D1C218-569C-EE30-4D29-9EFFB6A9A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26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B41335-01AC-34D5-F70E-3FD5843AB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BAFF8-A93B-F5E4-3F6F-5EB516B8C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E9685-F698-FBDC-5186-11BD28CF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8723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3E855-9FBD-DC93-B6E4-17EDF2851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FBD58-8BCA-C725-D51B-475F4491D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916E58-5605-1241-7D98-EA046EB9E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6A50E-453D-C472-8E9E-F1F86D277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5C82C-C611-5CFE-F26E-6849F2669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E733C3-7980-7AC0-5FE7-139C39925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33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A0798-314C-1C53-37D0-FFDB2AE97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D8DBA7-C6CD-ABD9-B3CF-562EE7AF64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B35C1-3F1A-FAC0-37BD-B4F9BF620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14534-8A24-39AE-DC53-D1094EA67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3C2CB-12FC-300F-29AF-7999D13EC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EE9C5-561E-3FCD-0432-07C67427B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102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956C2-DADB-B6B4-EE58-395B11525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9AC6E4-9547-C1B7-0405-49BBCD99F3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07A5B-BC33-7586-A411-B98E0ADCF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52D70-2EA1-DFEF-B04A-FDA01C9AE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E593D-BDD3-C66B-410C-054D286B4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544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EF63F-360B-0F89-CBFE-FD66B2EB96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C0EA93-DE30-BC7A-A0A1-61577795C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5DDA1-B384-0C9F-56C7-F7AAA2303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C11C3-262D-3CDD-275C-839A9CE35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9B634-D1D5-96C0-8ACB-4EA790C98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916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A4DC40-2149-0E43-BD63-EEC628D36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5763E6-9833-44FF-F8BB-5156D4800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1FE59-AC59-D83C-40A7-F8227941C6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A96C4-76D9-4D10-A02D-18D5CECAB8B6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1E879-898C-C460-B107-FB0D42BA81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0D30C-BDFC-A338-FDEC-3491FF3526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890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gamblingsites.com/news/march-madness-betting-begins-in-the-united-states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reativecommons.org/licenses/by-nd/3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photo/basketball-american-basket-ring-9256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486final.streamlit.app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4458A8-0FB9-FB01-D730-B8CB987116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9095" r="32241" b="-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C09C63-7E99-E03A-7CA0-14EE9E958D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chemeClr val="bg1"/>
                </a:solidFill>
              </a:rPr>
              <a:t>The Cinderella 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398DF8-604E-0E74-2782-107FA9FF0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chemeClr val="bg1"/>
                </a:solidFill>
              </a:rPr>
              <a:t>By: Anton, James, Aaron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3BFC9-DF23-E701-1B71-CBC86AA91897}"/>
              </a:ext>
            </a:extLst>
          </p:cNvPr>
          <p:cNvSpPr txBox="1"/>
          <p:nvPr/>
        </p:nvSpPr>
        <p:spPr>
          <a:xfrm>
            <a:off x="9739085" y="6657945"/>
            <a:ext cx="245291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3" tooltip="https://www.usgamblingsites.com/news/march-madness-betting-begins-in-the-united-states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4" tooltip="https://creativecommons.org/licenses/by-nd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BY-ND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1808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1BD38-C00F-0BFB-A0E6-91E551E64D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6236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D88B8A-9A0D-C7F1-3E06-5895DC2AA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Motivation and 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A3276-EEE9-7EBB-927F-58238A54F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r>
              <a:rPr lang="en-US" sz="1400"/>
              <a:t>Motivation:</a:t>
            </a:r>
          </a:p>
          <a:p>
            <a:pPr lvl="1"/>
            <a:r>
              <a:rPr lang="en-US" sz="1400"/>
              <a:t>The Goal: Predict March Madness “Cinderella” Upsets</a:t>
            </a:r>
          </a:p>
          <a:p>
            <a:pPr lvl="1"/>
            <a:r>
              <a:rPr lang="en-US" sz="1400"/>
              <a:t>The Problem: Traditional models typically over-rely on official seeding</a:t>
            </a:r>
          </a:p>
          <a:p>
            <a:pPr lvl="1"/>
            <a:r>
              <a:rPr lang="en-US" sz="1400"/>
              <a:t>The Solution: Focus on a team’s statistical DNA using regular season advanced metrics.</a:t>
            </a:r>
          </a:p>
          <a:p>
            <a:pPr marL="457200" lvl="1" indent="0">
              <a:buNone/>
            </a:pPr>
            <a:endParaRPr lang="en-US" sz="1400"/>
          </a:p>
          <a:p>
            <a:pPr marL="457200" lvl="1" indent="0">
              <a:buNone/>
            </a:pPr>
            <a:r>
              <a:rPr lang="en-US" sz="1400"/>
              <a:t>Hypothesis</a:t>
            </a:r>
          </a:p>
          <a:p>
            <a:pPr marL="457200" lvl="1" indent="0">
              <a:buNone/>
            </a:pPr>
            <a:r>
              <a:rPr lang="en-US" sz="1400"/>
              <a:t>- Integrating unsupervised anomaly scores into supervised classification models will significantly improve the predictive accuracy of NCAA tournament upsets.</a:t>
            </a:r>
          </a:p>
        </p:txBody>
      </p:sp>
    </p:spTree>
    <p:extLst>
      <p:ext uri="{BB962C8B-B14F-4D97-AF65-F5344CB8AC3E}">
        <p14:creationId xmlns:p14="http://schemas.microsoft.com/office/powerpoint/2010/main" val="2923759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BC4E29-A3D7-967E-0AF1-32EBD5692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8000">
                <a:solidFill>
                  <a:srgbClr val="FFFFFF"/>
                </a:solidFill>
              </a:rPr>
              <a:t>The Data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40ECF-6E3C-9D92-886B-684672107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Dataset Origin &amp; Scope</a:t>
            </a:r>
          </a:p>
          <a:p>
            <a:pPr lvl="1"/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Source: Kaggle 2026 March Madness Competition</a:t>
            </a:r>
          </a:p>
          <a:p>
            <a:pPr lvl="1"/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Timeline: 1984-1985</a:t>
            </a:r>
          </a:p>
          <a:p>
            <a:pPr lvl="1"/>
            <a:endParaRPr lang="en-US" sz="2000">
              <a:solidFill>
                <a:schemeClr val="tx1">
                  <a:alpha val="80000"/>
                </a:schemeClr>
              </a:solidFill>
            </a:endParaRPr>
          </a:p>
          <a:p>
            <a:pPr marL="457200" lvl="1" indent="0">
              <a:buNone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Target Variable: CinderellaFlag</a:t>
            </a: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Teams with seed &gt;= 10 and tournament wins &gt;= 2.</a:t>
            </a:r>
          </a:p>
          <a:p>
            <a:pPr lvl="1">
              <a:buFontTx/>
              <a:buChar char="-"/>
            </a:pPr>
            <a:endParaRPr lang="en-US" sz="200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Key Features:</a:t>
            </a: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- Ranking Metrics: SeedNum, MasseyRankMean</a:t>
            </a: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Performance: WinPct</a:t>
            </a:r>
          </a:p>
          <a:p>
            <a:pPr lvl="1">
              <a:buFontTx/>
              <a:buChar char="-"/>
            </a:pPr>
            <a:r>
              <a:rPr lang="en-US" sz="2000">
                <a:solidFill>
                  <a:schemeClr val="tx1">
                    <a:alpha val="80000"/>
                  </a:schemeClr>
                </a:solidFill>
              </a:rPr>
              <a:t>Efficiency: AvgScoreDiff, AvgPointsFor, AvgPointsAgainst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94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1D725-9251-7DF5-1F23-121F2299F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8B44C-9E92-F2E4-97B8-4F7168AD8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/>
              <a:t>Phase 1: Unsupervised Learning</a:t>
            </a:r>
          </a:p>
          <a:p>
            <a:r>
              <a:rPr lang="en-US" dirty="0"/>
              <a:t>Evaluated all division I teams to map out statistical DNA</a:t>
            </a:r>
          </a:p>
          <a:p>
            <a:r>
              <a:rPr lang="en-US" dirty="0"/>
              <a:t>Models Tested: Isolation Forests &amp; Gaussian Mixture Models (GMM)</a:t>
            </a:r>
          </a:p>
          <a:p>
            <a:endParaRPr lang="en-US" dirty="0"/>
          </a:p>
          <a:p>
            <a:r>
              <a:rPr lang="en-US" dirty="0"/>
              <a:t>Phase 2: Supervised Classification</a:t>
            </a:r>
          </a:p>
          <a:p>
            <a:r>
              <a:rPr lang="en-US" dirty="0"/>
              <a:t>Filtered dataset strictly to Cinderella candidates (Seed 10-16, N = 680)</a:t>
            </a:r>
          </a:p>
          <a:p>
            <a:r>
              <a:rPr lang="en-US" dirty="0"/>
              <a:t>Models Tested: Random Forest vs. XGBoost</a:t>
            </a:r>
          </a:p>
        </p:txBody>
      </p:sp>
    </p:spTree>
    <p:extLst>
      <p:ext uri="{BB962C8B-B14F-4D97-AF65-F5344CB8AC3E}">
        <p14:creationId xmlns:p14="http://schemas.microsoft.com/office/powerpoint/2010/main" val="3613872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1231AA-D68E-5E3E-38D9-A11CFECC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/>
              <a:t>Feature Importance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610FC-C8BD-1B28-5CF1-C94A6C57E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dirty="0" err="1"/>
              <a:t>SeedNum</a:t>
            </a:r>
            <a:r>
              <a:rPr lang="en-US" sz="2200" dirty="0"/>
              <a:t> was highly predictive but the model predictions were also driven by </a:t>
            </a:r>
            <a:r>
              <a:rPr lang="en-US" sz="2200" dirty="0" err="1"/>
              <a:t>Rank_vs_TourneyAvg</a:t>
            </a:r>
            <a:r>
              <a:rPr lang="en-US" sz="2200" dirty="0"/>
              <a:t>, and Massey Ratings. While other variables were slightly less impactful.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BF5752-19B2-8271-73D0-3DDF01E9F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450123"/>
            <a:ext cx="5458968" cy="395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167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CA9FF4-D956-CC7F-78D8-8F25F0E5F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Supervised Classification</a:t>
            </a:r>
          </a:p>
        </p:txBody>
      </p:sp>
      <p:sp>
        <p:nvSpPr>
          <p:cNvPr id="5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989EC5-8729-B685-C48C-4E20853FB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/>
              <a:t>The Data</a:t>
            </a:r>
          </a:p>
          <a:p>
            <a:r>
              <a:rPr lang="en-US" sz="2200"/>
              <a:t>Filtering for Cinderella candidates left us with an imbalanced dataset, since Cinderella seeds are unlikely.</a:t>
            </a:r>
          </a:p>
          <a:p>
            <a:endParaRPr lang="en-US" sz="2200"/>
          </a:p>
          <a:p>
            <a:r>
              <a:rPr lang="en-US" sz="2200"/>
              <a:t>Model Selection and Tuning: </a:t>
            </a:r>
          </a:p>
          <a:p>
            <a:r>
              <a:rPr lang="en-US" sz="2200"/>
              <a:t>Evaluation Metric: Rather than Accuracy we used PC-AUC and F1-Score to account for this.</a:t>
            </a:r>
          </a:p>
          <a:p>
            <a:r>
              <a:rPr lang="en-US" sz="2200"/>
              <a:t>Baseline Random Forest struggled with recall (0.306).</a:t>
            </a:r>
          </a:p>
          <a:p>
            <a:r>
              <a:rPr lang="en-US" sz="2200"/>
              <a:t>XGBoost largely improved recall (0.6861)</a:t>
            </a:r>
          </a:p>
        </p:txBody>
      </p:sp>
    </p:spTree>
    <p:extLst>
      <p:ext uri="{BB962C8B-B14F-4D97-AF65-F5344CB8AC3E}">
        <p14:creationId xmlns:p14="http://schemas.microsoft.com/office/powerpoint/2010/main" val="16212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AC1364A-3E3D-4F0D-8776-78AF3A270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F5C119-2DAB-CFB8-E012-BE273491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7501" y="329184"/>
            <a:ext cx="6755626" cy="1783080"/>
          </a:xfrm>
        </p:spPr>
        <p:txBody>
          <a:bodyPr anchor="b">
            <a:normAutofit/>
          </a:bodyPr>
          <a:lstStyle/>
          <a:p>
            <a:r>
              <a:rPr lang="en-US" sz="5400"/>
              <a:t>Unsupervised Anomaly Detection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A9E1D-D4EC-F3E5-1F5E-5B0D5B8ADE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789645"/>
            <a:ext cx="4014216" cy="2328245"/>
          </a:xfrm>
          <a:prstGeom prst="rect">
            <a:avLst/>
          </a:prstGeom>
        </p:spPr>
      </p:pic>
      <p:sp>
        <p:nvSpPr>
          <p:cNvPr id="17" name="sketchy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7494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72E0E6-1585-7902-E2A7-A0E9BD09C8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498" y="4149598"/>
            <a:ext cx="3851012" cy="209880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73496-2146-1B47-AE02-B844407B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7494" y="2706624"/>
            <a:ext cx="6755626" cy="3483864"/>
          </a:xfrm>
        </p:spPr>
        <p:txBody>
          <a:bodyPr>
            <a:normAutofit/>
          </a:bodyPr>
          <a:lstStyle/>
          <a:p>
            <a:r>
              <a:rPr lang="en-US" sz="1700"/>
              <a:t>Hypothesis: Cinderellas would be identified as distinct outliers among other low seeded teams.</a:t>
            </a:r>
          </a:p>
          <a:p>
            <a:endParaRPr lang="en-US" sz="1700"/>
          </a:p>
          <a:p>
            <a:r>
              <a:rPr lang="en-US" sz="1700"/>
              <a:t>Reality: Isolation Forest showed that Cinderellas were mostly statistically normal to other lower ranked seeds and lacked significant variance.</a:t>
            </a:r>
          </a:p>
          <a:p>
            <a:endParaRPr lang="en-US" sz="1700"/>
          </a:p>
          <a:p>
            <a:r>
              <a:rPr lang="en-US" sz="1700"/>
              <a:t>However, the Gaussian Mixed Model (GMM) was able to group teams into 4 distinct archetypes. It successfully grouped 82% of historical Cinderella teams into a high performing archetype (Cluster 2) where many higher ranked teams are. This suggests that they distinct enough to be identified as different from the average lower seed.</a:t>
            </a:r>
          </a:p>
        </p:txBody>
      </p:sp>
    </p:spTree>
    <p:extLst>
      <p:ext uri="{BB962C8B-B14F-4D97-AF65-F5344CB8AC3E}">
        <p14:creationId xmlns:p14="http://schemas.microsoft.com/office/powerpoint/2010/main" val="2149695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C32AE-3699-A024-B553-BA2A5FC17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Results &amp;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64E96-F4EA-2976-C3B9-4DDF488B5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Ultimately, despite our hypothesis, our XGBoost model still struggled to consistently identify Cinderella teams. </a:t>
            </a:r>
          </a:p>
          <a:p>
            <a:endParaRPr lang="en-US" dirty="0"/>
          </a:p>
          <a:p>
            <a:r>
              <a:rPr lang="en-US" dirty="0"/>
              <a:t>While it performed better than a random guess, it wasn’t drastically better. </a:t>
            </a:r>
          </a:p>
        </p:txBody>
      </p:sp>
    </p:spTree>
    <p:extLst>
      <p:ext uri="{BB962C8B-B14F-4D97-AF65-F5344CB8AC3E}">
        <p14:creationId xmlns:p14="http://schemas.microsoft.com/office/powerpoint/2010/main" val="37458763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D214D3-9699-E0E2-8B10-348A820E5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0871-4D7A-8150-B00F-8D9A43CE6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u="sng" dirty="0">
                <a:hlinkClick r:id="rId2"/>
              </a:rPr>
              <a:t>https://stat486final.streamlit.app/</a:t>
            </a:r>
            <a:r>
              <a:rPr lang="en-US" u="sng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908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B09F6F-DC3E-B1B0-5170-853B3CCC3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Conclusion and Takeaways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148BF5E-FFD9-8F4D-3995-CFF3BEC660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6214265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6550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492</Words>
  <Application>Microsoft Office PowerPoint</Application>
  <PresentationFormat>Widescreen</PresentationFormat>
  <Paragraphs>57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The Cinderella Problem</vt:lpstr>
      <vt:lpstr>Motivation and Hypothesis</vt:lpstr>
      <vt:lpstr>The Data</vt:lpstr>
      <vt:lpstr>Methodology</vt:lpstr>
      <vt:lpstr>Feature Importance</vt:lpstr>
      <vt:lpstr>Supervised Classification</vt:lpstr>
      <vt:lpstr>Unsupervised Anomaly Detection </vt:lpstr>
      <vt:lpstr>Model Results &amp; Performance</vt:lpstr>
      <vt:lpstr>Demonstration</vt:lpstr>
      <vt:lpstr>Conclusion and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Klein</dc:creator>
  <cp:lastModifiedBy>Anton Hinckley</cp:lastModifiedBy>
  <cp:revision>5</cp:revision>
  <dcterms:created xsi:type="dcterms:W3CDTF">2026-04-09T04:04:06Z</dcterms:created>
  <dcterms:modified xsi:type="dcterms:W3CDTF">2026-04-09T05:38:45Z</dcterms:modified>
</cp:coreProperties>
</file>