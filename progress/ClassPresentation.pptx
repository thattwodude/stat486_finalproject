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8" r:id="rId7"/>
    <p:sldId id="267" r:id="rId8"/>
    <p:sldId id="263" r:id="rId9"/>
    <p:sldId id="261" r:id="rId10"/>
    <p:sldId id="262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54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C90C0C-0A34-44C4-A888-A760DDCDE8E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244C327-62DD-4127-BBB3-F162E69FA163}">
      <dgm:prSet/>
      <dgm:spPr/>
      <dgm:t>
        <a:bodyPr/>
        <a:lstStyle/>
        <a:p>
          <a:r>
            <a:rPr lang="en-US" b="1"/>
            <a:t>The Pool: </a:t>
          </a:r>
          <a:r>
            <a:rPr lang="en-US"/>
            <a:t>Strictly “Cinderella Candidates (seed 10 through 16).</a:t>
          </a:r>
        </a:p>
      </dgm:t>
    </dgm:pt>
    <dgm:pt modelId="{130D473A-988B-4668-AA62-3B1DF509DE00}" type="parTrans" cxnId="{DA93137B-D703-4D6B-B366-F2DB85CE94BF}">
      <dgm:prSet/>
      <dgm:spPr/>
      <dgm:t>
        <a:bodyPr/>
        <a:lstStyle/>
        <a:p>
          <a:endParaRPr lang="en-US"/>
        </a:p>
      </dgm:t>
    </dgm:pt>
    <dgm:pt modelId="{D899C8B4-DFB8-448C-A917-14B16AA4B37D}" type="sibTrans" cxnId="{DA93137B-D703-4D6B-B366-F2DB85CE94BF}">
      <dgm:prSet/>
      <dgm:spPr/>
      <dgm:t>
        <a:bodyPr/>
        <a:lstStyle/>
        <a:p>
          <a:endParaRPr lang="en-US"/>
        </a:p>
      </dgm:t>
    </dgm:pt>
    <dgm:pt modelId="{36B64279-2124-4BE1-9540-2B1B8DEFFF36}">
      <dgm:prSet/>
      <dgm:spPr/>
      <dgm:t>
        <a:bodyPr/>
        <a:lstStyle/>
        <a:p>
          <a:r>
            <a:rPr lang="en-US" b="1"/>
            <a:t>The Target: </a:t>
          </a:r>
          <a:r>
            <a:rPr lang="en-US"/>
            <a:t>Reaching the Sweet 16</a:t>
          </a:r>
        </a:p>
      </dgm:t>
    </dgm:pt>
    <dgm:pt modelId="{409D49FC-D2D9-4735-9C2E-1A94D59DE6A5}" type="parTrans" cxnId="{C1070B3E-F155-43F0-A6A4-B4A8E12B160A}">
      <dgm:prSet/>
      <dgm:spPr/>
      <dgm:t>
        <a:bodyPr/>
        <a:lstStyle/>
        <a:p>
          <a:endParaRPr lang="en-US"/>
        </a:p>
      </dgm:t>
    </dgm:pt>
    <dgm:pt modelId="{51402C73-91BB-46DD-BCA4-A80C08969667}" type="sibTrans" cxnId="{C1070B3E-F155-43F0-A6A4-B4A8E12B160A}">
      <dgm:prSet/>
      <dgm:spPr/>
      <dgm:t>
        <a:bodyPr/>
        <a:lstStyle/>
        <a:p>
          <a:endParaRPr lang="en-US"/>
        </a:p>
      </dgm:t>
    </dgm:pt>
    <dgm:pt modelId="{32EED0CE-423D-4A40-995F-C6776E473085}">
      <dgm:prSet/>
      <dgm:spPr/>
      <dgm:t>
        <a:bodyPr/>
        <a:lstStyle/>
        <a:p>
          <a:r>
            <a:rPr lang="en-US" b="1"/>
            <a:t>The Challenge: </a:t>
          </a:r>
          <a:r>
            <a:rPr lang="en-US"/>
            <a:t>Extreme Class Imbalance (Only ~45 true Cinderellas out of 680 candidates = ~6.6%</a:t>
          </a:r>
        </a:p>
      </dgm:t>
    </dgm:pt>
    <dgm:pt modelId="{7D0ED1F0-3569-4178-BC82-D0062D434707}" type="parTrans" cxnId="{E23B3E16-D7B0-41AA-AE83-8E3E9AB16313}">
      <dgm:prSet/>
      <dgm:spPr/>
      <dgm:t>
        <a:bodyPr/>
        <a:lstStyle/>
        <a:p>
          <a:endParaRPr lang="en-US"/>
        </a:p>
      </dgm:t>
    </dgm:pt>
    <dgm:pt modelId="{13FDB224-27CD-468A-95E5-10296E96456C}" type="sibTrans" cxnId="{E23B3E16-D7B0-41AA-AE83-8E3E9AB16313}">
      <dgm:prSet/>
      <dgm:spPr/>
      <dgm:t>
        <a:bodyPr/>
        <a:lstStyle/>
        <a:p>
          <a:endParaRPr lang="en-US"/>
        </a:p>
      </dgm:t>
    </dgm:pt>
    <dgm:pt modelId="{7ED885B8-573F-4374-A607-E9CCD052A7AF}">
      <dgm:prSet/>
      <dgm:spPr/>
      <dgm:t>
        <a:bodyPr/>
        <a:lstStyle/>
        <a:p>
          <a:r>
            <a:rPr lang="en-US" b="1"/>
            <a:t>The Metrics: </a:t>
          </a:r>
          <a:r>
            <a:rPr lang="en-US"/>
            <a:t>Precision-Recall AUC (PR-AUC) and F1 Score</a:t>
          </a:r>
        </a:p>
      </dgm:t>
    </dgm:pt>
    <dgm:pt modelId="{527345AD-07DB-4796-A02D-A9ABF5D6A591}" type="parTrans" cxnId="{F5004BEE-5C6A-4279-8F11-BE59E984B574}">
      <dgm:prSet/>
      <dgm:spPr/>
      <dgm:t>
        <a:bodyPr/>
        <a:lstStyle/>
        <a:p>
          <a:endParaRPr lang="en-US"/>
        </a:p>
      </dgm:t>
    </dgm:pt>
    <dgm:pt modelId="{A346F3DD-89F0-4DCA-A6AF-BC1E37634A50}" type="sibTrans" cxnId="{F5004BEE-5C6A-4279-8F11-BE59E984B574}">
      <dgm:prSet/>
      <dgm:spPr/>
      <dgm:t>
        <a:bodyPr/>
        <a:lstStyle/>
        <a:p>
          <a:endParaRPr lang="en-US"/>
        </a:p>
      </dgm:t>
    </dgm:pt>
    <dgm:pt modelId="{960DAD15-C566-4173-AC62-B4C0799E57C7}" type="pres">
      <dgm:prSet presAssocID="{1AC90C0C-0A34-44C4-A888-A760DDCDE8EF}" presName="linear" presStyleCnt="0">
        <dgm:presLayoutVars>
          <dgm:animLvl val="lvl"/>
          <dgm:resizeHandles val="exact"/>
        </dgm:presLayoutVars>
      </dgm:prSet>
      <dgm:spPr/>
    </dgm:pt>
    <dgm:pt modelId="{BA0BDB99-6C13-48A7-95E9-7B8CB19DFC6B}" type="pres">
      <dgm:prSet presAssocID="{A244C327-62DD-4127-BBB3-F162E69FA16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37D3A07-AD55-4280-90DD-0750DE08C720}" type="pres">
      <dgm:prSet presAssocID="{D899C8B4-DFB8-448C-A917-14B16AA4B37D}" presName="spacer" presStyleCnt="0"/>
      <dgm:spPr/>
    </dgm:pt>
    <dgm:pt modelId="{92A9DC77-3381-48EE-AE93-2E1D48CAA540}" type="pres">
      <dgm:prSet presAssocID="{36B64279-2124-4BE1-9540-2B1B8DEFFF3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68678B-4E83-4BA1-AC6E-0665681C8C0D}" type="pres">
      <dgm:prSet presAssocID="{51402C73-91BB-46DD-BCA4-A80C08969667}" presName="spacer" presStyleCnt="0"/>
      <dgm:spPr/>
    </dgm:pt>
    <dgm:pt modelId="{559BC1A5-774E-4A3B-8B7A-679673BB04D4}" type="pres">
      <dgm:prSet presAssocID="{32EED0CE-423D-4A40-995F-C6776E47308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0F39DD4-57CC-4B0D-8D08-3978A7BB3CAE}" type="pres">
      <dgm:prSet presAssocID="{13FDB224-27CD-468A-95E5-10296E96456C}" presName="spacer" presStyleCnt="0"/>
      <dgm:spPr/>
    </dgm:pt>
    <dgm:pt modelId="{C4C4BC72-2AE6-416D-8ADF-0220106CB8A8}" type="pres">
      <dgm:prSet presAssocID="{7ED885B8-573F-4374-A607-E9CCD052A7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23B3E16-D7B0-41AA-AE83-8E3E9AB16313}" srcId="{1AC90C0C-0A34-44C4-A888-A760DDCDE8EF}" destId="{32EED0CE-423D-4A40-995F-C6776E473085}" srcOrd="2" destOrd="0" parTransId="{7D0ED1F0-3569-4178-BC82-D0062D434707}" sibTransId="{13FDB224-27CD-468A-95E5-10296E96456C}"/>
    <dgm:cxn modelId="{CF574234-1FFE-4641-8B4E-38E8FFD6C2EC}" type="presOf" srcId="{7ED885B8-573F-4374-A607-E9CCD052A7AF}" destId="{C4C4BC72-2AE6-416D-8ADF-0220106CB8A8}" srcOrd="0" destOrd="0" presId="urn:microsoft.com/office/officeart/2005/8/layout/vList2"/>
    <dgm:cxn modelId="{73BCEE3C-C889-418A-AC71-D87D15027EF4}" type="presOf" srcId="{1AC90C0C-0A34-44C4-A888-A760DDCDE8EF}" destId="{960DAD15-C566-4173-AC62-B4C0799E57C7}" srcOrd="0" destOrd="0" presId="urn:microsoft.com/office/officeart/2005/8/layout/vList2"/>
    <dgm:cxn modelId="{C1070B3E-F155-43F0-A6A4-B4A8E12B160A}" srcId="{1AC90C0C-0A34-44C4-A888-A760DDCDE8EF}" destId="{36B64279-2124-4BE1-9540-2B1B8DEFFF36}" srcOrd="1" destOrd="0" parTransId="{409D49FC-D2D9-4735-9C2E-1A94D59DE6A5}" sibTransId="{51402C73-91BB-46DD-BCA4-A80C08969667}"/>
    <dgm:cxn modelId="{1A552579-884E-4520-A31D-1FB6C23FB3B2}" type="presOf" srcId="{32EED0CE-423D-4A40-995F-C6776E473085}" destId="{559BC1A5-774E-4A3B-8B7A-679673BB04D4}" srcOrd="0" destOrd="0" presId="urn:microsoft.com/office/officeart/2005/8/layout/vList2"/>
    <dgm:cxn modelId="{DA93137B-D703-4D6B-B366-F2DB85CE94BF}" srcId="{1AC90C0C-0A34-44C4-A888-A760DDCDE8EF}" destId="{A244C327-62DD-4127-BBB3-F162E69FA163}" srcOrd="0" destOrd="0" parTransId="{130D473A-988B-4668-AA62-3B1DF509DE00}" sibTransId="{D899C8B4-DFB8-448C-A917-14B16AA4B37D}"/>
    <dgm:cxn modelId="{B3CA93C3-96A7-49D3-8BBD-BFE81C92D728}" type="presOf" srcId="{A244C327-62DD-4127-BBB3-F162E69FA163}" destId="{BA0BDB99-6C13-48A7-95E9-7B8CB19DFC6B}" srcOrd="0" destOrd="0" presId="urn:microsoft.com/office/officeart/2005/8/layout/vList2"/>
    <dgm:cxn modelId="{535DF0C4-95CB-44B9-ACA7-00522D07191C}" type="presOf" srcId="{36B64279-2124-4BE1-9540-2B1B8DEFFF36}" destId="{92A9DC77-3381-48EE-AE93-2E1D48CAA540}" srcOrd="0" destOrd="0" presId="urn:microsoft.com/office/officeart/2005/8/layout/vList2"/>
    <dgm:cxn modelId="{F5004BEE-5C6A-4279-8F11-BE59E984B574}" srcId="{1AC90C0C-0A34-44C4-A888-A760DDCDE8EF}" destId="{7ED885B8-573F-4374-A607-E9CCD052A7AF}" srcOrd="3" destOrd="0" parTransId="{527345AD-07DB-4796-A02D-A9ABF5D6A591}" sibTransId="{A346F3DD-89F0-4DCA-A6AF-BC1E37634A50}"/>
    <dgm:cxn modelId="{A035AA38-6301-4C1D-AB82-AF911A60EC46}" type="presParOf" srcId="{960DAD15-C566-4173-AC62-B4C0799E57C7}" destId="{BA0BDB99-6C13-48A7-95E9-7B8CB19DFC6B}" srcOrd="0" destOrd="0" presId="urn:microsoft.com/office/officeart/2005/8/layout/vList2"/>
    <dgm:cxn modelId="{096AC96F-A4A6-427B-B26C-DCBFCBD68D31}" type="presParOf" srcId="{960DAD15-C566-4173-AC62-B4C0799E57C7}" destId="{A37D3A07-AD55-4280-90DD-0750DE08C720}" srcOrd="1" destOrd="0" presId="urn:microsoft.com/office/officeart/2005/8/layout/vList2"/>
    <dgm:cxn modelId="{F6582D08-652D-4B2C-8EFC-B474FBCD456F}" type="presParOf" srcId="{960DAD15-C566-4173-AC62-B4C0799E57C7}" destId="{92A9DC77-3381-48EE-AE93-2E1D48CAA540}" srcOrd="2" destOrd="0" presId="urn:microsoft.com/office/officeart/2005/8/layout/vList2"/>
    <dgm:cxn modelId="{0F5D550D-3340-45B9-A05B-6F97322843BA}" type="presParOf" srcId="{960DAD15-C566-4173-AC62-B4C0799E57C7}" destId="{2668678B-4E83-4BA1-AC6E-0665681C8C0D}" srcOrd="3" destOrd="0" presId="urn:microsoft.com/office/officeart/2005/8/layout/vList2"/>
    <dgm:cxn modelId="{C3B36DFD-98D1-4C42-9D40-948B35AC0E95}" type="presParOf" srcId="{960DAD15-C566-4173-AC62-B4C0799E57C7}" destId="{559BC1A5-774E-4A3B-8B7A-679673BB04D4}" srcOrd="4" destOrd="0" presId="urn:microsoft.com/office/officeart/2005/8/layout/vList2"/>
    <dgm:cxn modelId="{15339008-B73B-41AD-A51E-1A4C34E66499}" type="presParOf" srcId="{960DAD15-C566-4173-AC62-B4C0799E57C7}" destId="{70F39DD4-57CC-4B0D-8D08-3978A7BB3CAE}" srcOrd="5" destOrd="0" presId="urn:microsoft.com/office/officeart/2005/8/layout/vList2"/>
    <dgm:cxn modelId="{8F9F44D1-EE19-46AE-9618-2EFC92D5875C}" type="presParOf" srcId="{960DAD15-C566-4173-AC62-B4C0799E57C7}" destId="{C4C4BC72-2AE6-416D-8ADF-0220106CB8A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BDB99-6C13-48A7-95E9-7B8CB19DFC6B}">
      <dsp:nvSpPr>
        <dsp:cNvPr id="0" name=""/>
        <dsp:cNvSpPr/>
      </dsp:nvSpPr>
      <dsp:spPr>
        <a:xfrm>
          <a:off x="0" y="79771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Pool: </a:t>
          </a:r>
          <a:r>
            <a:rPr lang="en-US" sz="2300" kern="1200"/>
            <a:t>Strictly “Cinderella Candidates (seed 10 through 16).</a:t>
          </a:r>
        </a:p>
      </dsp:txBody>
      <dsp:txXfrm>
        <a:off x="44664" y="842383"/>
        <a:ext cx="6577505" cy="825612"/>
      </dsp:txXfrm>
    </dsp:sp>
    <dsp:sp modelId="{92A9DC77-3381-48EE-AE93-2E1D48CAA540}">
      <dsp:nvSpPr>
        <dsp:cNvPr id="0" name=""/>
        <dsp:cNvSpPr/>
      </dsp:nvSpPr>
      <dsp:spPr>
        <a:xfrm>
          <a:off x="0" y="177889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Target: </a:t>
          </a:r>
          <a:r>
            <a:rPr lang="en-US" sz="2300" kern="1200"/>
            <a:t>Reaching the Sweet 16</a:t>
          </a:r>
        </a:p>
      </dsp:txBody>
      <dsp:txXfrm>
        <a:off x="44664" y="1823563"/>
        <a:ext cx="6577505" cy="825612"/>
      </dsp:txXfrm>
    </dsp:sp>
    <dsp:sp modelId="{559BC1A5-774E-4A3B-8B7A-679673BB04D4}">
      <dsp:nvSpPr>
        <dsp:cNvPr id="0" name=""/>
        <dsp:cNvSpPr/>
      </dsp:nvSpPr>
      <dsp:spPr>
        <a:xfrm>
          <a:off x="0" y="276008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Challenge: </a:t>
          </a:r>
          <a:r>
            <a:rPr lang="en-US" sz="2300" kern="1200"/>
            <a:t>Extreme Class Imbalance (Only ~45 true Cinderellas out of 680 candidates = ~6.6%</a:t>
          </a:r>
        </a:p>
      </dsp:txBody>
      <dsp:txXfrm>
        <a:off x="44664" y="2804744"/>
        <a:ext cx="6577505" cy="825612"/>
      </dsp:txXfrm>
    </dsp:sp>
    <dsp:sp modelId="{C4C4BC72-2AE6-416D-8ADF-0220106CB8A8}">
      <dsp:nvSpPr>
        <dsp:cNvPr id="0" name=""/>
        <dsp:cNvSpPr/>
      </dsp:nvSpPr>
      <dsp:spPr>
        <a:xfrm>
          <a:off x="0" y="374126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Metrics: </a:t>
          </a:r>
          <a:r>
            <a:rPr lang="en-US" sz="2300" kern="1200"/>
            <a:t>Precision-Recall AUC (PR-AUC) and F1 Score</a:t>
          </a:r>
        </a:p>
      </dsp:txBody>
      <dsp:txXfrm>
        <a:off x="44664" y="3785924"/>
        <a:ext cx="6577505" cy="8256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Target Variable: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CinderellaFlag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- Ranking Metrics: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SeedNum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Performance: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WinPct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Efficiency: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AvgScoreDiff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AvgPointsFor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AvgPointsAgainst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MasseyRankMean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CC1186-C5B6-DD2B-186D-3627DA2F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The Prediction Task &amp; The “Small Data” Trap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F4A082-F542-A5F5-8B58-9F2E7A17E6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663968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0781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5105D448-4A6C-48A3-8C3C-71AF58F3E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25579F-C5D8-43BE-AF84-3E66A482C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2544415"/>
          </a:xfrm>
          <a:prstGeom prst="rect">
            <a:avLst/>
          </a:prstGeom>
          <a:ln>
            <a:noFill/>
          </a:ln>
          <a:effectLst>
            <a:outerShdw blurRad="203200" dist="88900" dir="5460000" sx="95000" sy="95000" algn="t" rotWithShape="0">
              <a:srgbClr val="000000">
                <a:alpha val="2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F15F0-1885-B715-08A0-F3B30DBB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63941"/>
            <a:ext cx="9963509" cy="1616529"/>
          </a:xfrm>
        </p:spPr>
        <p:txBody>
          <a:bodyPr>
            <a:normAutofit/>
          </a:bodyPr>
          <a:lstStyle/>
          <a:p>
            <a:r>
              <a:rPr lang="en-US" sz="4000"/>
              <a:t>XGBoost Vastly Outperforms Baseline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B6B5EEB-74CB-A1CF-852E-7FFB07D303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935123"/>
              </p:ext>
            </p:extLst>
          </p:nvPr>
        </p:nvGraphicFramePr>
        <p:xfrm>
          <a:off x="912185" y="3106763"/>
          <a:ext cx="1037039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394">
                  <a:extLst>
                    <a:ext uri="{9D8B030D-6E8A-4147-A177-3AD203B41FA5}">
                      <a16:colId xmlns:a16="http://schemas.microsoft.com/office/drawing/2014/main" val="636036401"/>
                    </a:ext>
                  </a:extLst>
                </a:gridCol>
                <a:gridCol w="3464560">
                  <a:extLst>
                    <a:ext uri="{9D8B030D-6E8A-4147-A177-3AD203B41FA5}">
                      <a16:colId xmlns:a16="http://schemas.microsoft.com/office/drawing/2014/main" val="3241708511"/>
                    </a:ext>
                  </a:extLst>
                </a:gridCol>
                <a:gridCol w="4605444">
                  <a:extLst>
                    <a:ext uri="{9D8B030D-6E8A-4147-A177-3AD203B41FA5}">
                      <a16:colId xmlns:a16="http://schemas.microsoft.com/office/drawing/2014/main" val="115253145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 b="1"/>
                        <a:t>Metric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Random Forest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Regularized XGBoost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3536129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Recall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24.3%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66.8%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0753624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F1-Score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0.206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0.296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3077656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PR-AUC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0.117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0.157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791251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332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80E9A-AE19-10B3-5887-57D08461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Decoding the XGBoost Hyperparameters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FED4F-8C6E-4413-691E-6D07DB4A7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1700" dirty="0"/>
              <a:t>Three Key Callouts: </a:t>
            </a:r>
          </a:p>
          <a:p>
            <a:pPr lvl="1"/>
            <a:r>
              <a:rPr lang="en-US" sz="1700" dirty="0"/>
              <a:t>The Imbalance Fix: </a:t>
            </a:r>
            <a:r>
              <a:rPr lang="en-US" sz="1700" dirty="0" err="1"/>
              <a:t>scale_pos_weight</a:t>
            </a:r>
            <a:r>
              <a:rPr lang="en-US" sz="1700" dirty="0"/>
              <a:t>: ~11.3 (Penalizes missed Cinderellas 11x more). </a:t>
            </a:r>
          </a:p>
          <a:p>
            <a:pPr lvl="1"/>
            <a:r>
              <a:rPr lang="en-US" sz="1700" dirty="0"/>
              <a:t>Breaking Reliance: </a:t>
            </a:r>
            <a:r>
              <a:rPr lang="en-US" sz="1700" dirty="0" err="1"/>
              <a:t>colsample_bytree</a:t>
            </a:r>
            <a:r>
              <a:rPr lang="en-US" sz="1700" dirty="0"/>
              <a:t>: 0.5 (Forces the model to look at advanced stats, not just the Seed Number). </a:t>
            </a:r>
          </a:p>
          <a:p>
            <a:pPr lvl="1"/>
            <a:r>
              <a:rPr lang="en-US" sz="1700" dirty="0"/>
              <a:t>Preventing Memorization: </a:t>
            </a:r>
            <a:r>
              <a:rPr lang="en-US" sz="1700" dirty="0" err="1"/>
              <a:t>max_depth</a:t>
            </a:r>
            <a:r>
              <a:rPr lang="en-US" sz="1700" dirty="0"/>
              <a:t>: 2 (Uses shallow "stumps" instead of deep trees to prevent overfitting).</a:t>
            </a:r>
          </a:p>
        </p:txBody>
      </p:sp>
    </p:spTree>
    <p:extLst>
      <p:ext uri="{BB962C8B-B14F-4D97-AF65-F5344CB8AC3E}">
        <p14:creationId xmlns:p14="http://schemas.microsoft.com/office/powerpoint/2010/main" val="3332230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Rank_vs_TourneyAvg</a:t>
            </a:r>
            <a:r>
              <a:rPr lang="en-US" sz="2200" dirty="0"/>
              <a:t> was our top predictor with </a:t>
            </a:r>
            <a:r>
              <a:rPr lang="en-US" sz="2200" dirty="0" err="1"/>
              <a:t>SeedNum</a:t>
            </a:r>
            <a:r>
              <a:rPr lang="en-US" sz="2200" dirty="0"/>
              <a:t> being a close second. Showing that although the teams seed number was low by the tournament committee their underlying Massey Ratings metric mathematically placed them above.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2FCB11-0CC0-1720-5033-8A80D2267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4" y="1165092"/>
            <a:ext cx="6253816" cy="452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 dirty="0">
                <a:hlinkClick r:id="rId2"/>
              </a:rPr>
              <a:t>https://stat486final.streamlit.app/</a:t>
            </a:r>
            <a:r>
              <a:rPr lang="en-US" u="sng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598</Words>
  <Application>Microsoft Office PowerPoint</Application>
  <PresentationFormat>Widescreen</PresentationFormat>
  <Paragraphs>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Methodology</vt:lpstr>
      <vt:lpstr>The Prediction Task &amp; The “Small Data” Trap</vt:lpstr>
      <vt:lpstr>XGBoost Vastly Outperforms Baseline</vt:lpstr>
      <vt:lpstr>Decoding the XGBoost Hyperparameters</vt:lpstr>
      <vt:lpstr>Feature Importance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6</cp:revision>
  <dcterms:created xsi:type="dcterms:W3CDTF">2026-04-09T04:04:06Z</dcterms:created>
  <dcterms:modified xsi:type="dcterms:W3CDTF">2026-04-09T16:02:13Z</dcterms:modified>
</cp:coreProperties>
</file>